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530" r:id="rId3"/>
    <p:sldId id="532" r:id="rId4"/>
    <p:sldId id="48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93"/>
  </p:normalViewPr>
  <p:slideViewPr>
    <p:cSldViewPr snapToGrid="0">
      <p:cViewPr varScale="1">
        <p:scale>
          <a:sx n="86" d="100"/>
          <a:sy n="86" d="100"/>
        </p:scale>
        <p:origin x="10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01380-FCE9-EF41-A781-7693C5D7D06A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EA649-1AE1-9F49-B635-7694DAFF4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517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E9EB66-32E9-496F-8812-FCB09C43DA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55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DD0F4-024E-8714-79F8-62A4FB572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5798C-AB26-27E0-16CD-F105A44B2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1EE3F-6AD9-5F52-6A5A-8B9C7C723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685F-C2B4-B54D-934F-DC9E3B91E2A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61E09-66CA-073D-4C38-B0212B94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2B347-40E8-B5F3-81F7-77F2A83D1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F7C8-62E1-6540-BD19-58334DC27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94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00AD4-0ACB-487B-44BB-14369CEDE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131B5-078A-0648-93B0-71336A12E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BD4C3-92D3-D082-78FF-6E40EE79A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685F-C2B4-B54D-934F-DC9E3B91E2A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4D148-0655-D5AD-BB08-B7729ECE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2B1FC-FE01-6A3C-5FE0-76990FCE7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F7C8-62E1-6540-BD19-58334DC27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39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CCE55-A6FC-ED3A-2C85-FD3D78F31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144C9-3E47-0B09-2DF9-3414B3BF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24E19-32A5-054F-AABB-D13140B19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685F-C2B4-B54D-934F-DC9E3B91E2A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4B800-DB56-932F-1ECB-2BE4DE3E4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88681-9FEC-CC03-772D-8D3DB420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F7C8-62E1-6540-BD19-58334DC27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7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D0AB-30AB-596D-38A9-C562831EA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DDEE2-114B-6F5F-21F1-8246D2018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C7777-4429-12EA-2443-490B58CBA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AE896-170A-4120-576D-31A0DED19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685F-C2B4-B54D-934F-DC9E3B91E2A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7BD86-78F2-1C49-B2B2-DB98F2BE3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417B9-2405-D4D6-7D03-8FD4706A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F7C8-62E1-6540-BD19-58334DC27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81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963C-37A1-7032-F0EB-1813EF7B5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E5343-4A81-B325-1A83-372AC5F0E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217D0-C736-6192-94C6-CFDB1D55F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BC495E-5B96-B633-B5D8-4776C747B9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E55C59-FBA5-62EA-D49B-C2E2FF15D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07045E-F4AA-51AE-FB4E-0C2761D4D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685F-C2B4-B54D-934F-DC9E3B91E2A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26383-68C4-6772-AECA-CFA4C498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AB2499-C4B6-0816-4131-9E7619B4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F7C8-62E1-6540-BD19-58334DC27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94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7F968-2991-2F10-4CFC-B5FA29D2A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66A130-ADB6-182F-4196-4F6E4765B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685F-C2B4-B54D-934F-DC9E3B91E2A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64997F-EA23-D202-145B-CC0C76A10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9C161-0C6C-6F56-CDFD-770EB4CE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F7C8-62E1-6540-BD19-58334DC27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606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8CEE3-AC6A-02E5-0730-FF5A6CA03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685F-C2B4-B54D-934F-DC9E3B91E2A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A10EBA-74F5-7B2E-C200-7B072D492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427FD-0838-9A0D-3FCF-46DDA3EA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F7C8-62E1-6540-BD19-58334DC27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6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E5B8-A419-8516-F6B4-988AA90D5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8F2E7-23B5-BB5B-E22F-A587424F3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4F766-75D0-40F3-B65D-0546D525C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82190-244F-3FCD-4F6B-A505F3C5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685F-C2B4-B54D-934F-DC9E3B91E2A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3919F-7853-F745-C092-8B540A5BC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148B1-A22E-9CC6-18AE-024BDD94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F7C8-62E1-6540-BD19-58334DC27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45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7A2E-D091-1EBF-34B2-336DFBF3D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D79AC2-6F28-805F-F2D1-3ACE32FB00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19ADE-CDC2-EAE8-4950-50C1BBF1E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84057-5980-6B2E-A474-20899E41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685F-C2B4-B54D-934F-DC9E3B91E2A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09CC0-7FB3-7C4A-1706-6F1BAA3BD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73D10-6858-B448-04DE-684AC5D8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F7C8-62E1-6540-BD19-58334DC27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85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2DDB6-D57D-FFC6-8CA9-82BF76D0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3029E-6121-3ACA-ED26-4AD92A4FD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C1EE5-67CD-C971-8E9F-A2E1AA1A7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685F-C2B4-B54D-934F-DC9E3B91E2A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4546F-92C0-EBA4-DDA4-3ADA1904B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1A7A8-0906-9B8C-82E0-30EDA7FF9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F7C8-62E1-6540-BD19-58334DC27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3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5DE913-01B9-9D9C-7C61-2BFD90450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05CE7-568A-D7B4-CA5D-A658AAD7F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095E2-BFF6-D74C-945A-352E580A4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685F-C2B4-B54D-934F-DC9E3B91E2A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3B98D-0D53-FE90-9B3C-CC6D693F4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79955-0652-A57A-C4FD-F9C56D74F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F7C8-62E1-6540-BD19-58334DC27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2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DBCA60-8639-40FA-D1ED-D8A371FF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CC95A-9488-EE63-1450-1DE9D4A65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7B984-2A02-98BD-1E69-4A1364438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55685F-C2B4-B54D-934F-DC9E3B91E2A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C73BF-1EA7-2600-50A8-FCFEDD3BC3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7AE37-5552-534E-A3E3-27CA1E727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6F7C8-62E1-6540-BD19-58334DC27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01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F369E-58D1-42AD-B2C6-B4BD976449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Session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465355-62C1-5B9E-A66E-F7911AFF1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</p:spTree>
    <p:extLst>
      <p:ext uri="{BB962C8B-B14F-4D97-AF65-F5344CB8AC3E}">
        <p14:creationId xmlns:p14="http://schemas.microsoft.com/office/powerpoint/2010/main" val="1524404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3504-FBC1-A199-F2EF-55236D0CC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FC86C-C215-15AD-7FBE-C811600F3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Exercise 1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sz="3200" dirty="0"/>
              <a:t>Write out the steps (handout 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97748E-7CE1-08B5-CE8F-6AF6ACB96940}"/>
              </a:ext>
            </a:extLst>
          </p:cNvPr>
          <p:cNvSpPr txBox="1"/>
          <p:nvPr/>
        </p:nvSpPr>
        <p:spPr>
          <a:xfrm>
            <a:off x="838200" y="2063931"/>
            <a:ext cx="5297534" cy="40626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a sequence of data verbs to transform the Starting Table into the Ending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data verbs + some pseudo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MUTATE(ROUND(Distance))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Verbs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JOIN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UNSTACK/PIVOT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STACK/UNPIVOT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MUTATE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RECODE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SPLIT STRING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IF/THEN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GROUPBY + AGGREGATE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88662C-8ADB-125D-4C8A-570C584B4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703" y="0"/>
            <a:ext cx="50492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07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F90D7-C8CE-D28D-7EE2-B088BBB84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8B08-D393-E8C1-2D7A-852859915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Exercise 2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sz="3200" dirty="0"/>
              <a:t>Write out the steps (handout 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1E80EC-5A36-13E6-C22D-074042AA376D}"/>
              </a:ext>
            </a:extLst>
          </p:cNvPr>
          <p:cNvSpPr txBox="1"/>
          <p:nvPr/>
        </p:nvSpPr>
        <p:spPr>
          <a:xfrm>
            <a:off x="838200" y="2063931"/>
            <a:ext cx="5297534" cy="32316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a sequence of data verbs to transform the Starting Table into the Ending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data verbs + some pseudo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MUTATE(ROUND(Distance))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Verbs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SELECT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FILTER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GROUPBY + AGGREGATE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PARTITIONBY + ORDERBY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4584FC-FC22-71CF-61B4-9BF56B898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34858"/>
            <a:ext cx="5676900" cy="3644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5B6AFA-2E6D-0760-ABB0-2AF232BE7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800" y="3711642"/>
            <a:ext cx="56515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09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9C07252-89C8-9BD7-2ED5-D297F3D46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0" y="776676"/>
            <a:ext cx="3231173" cy="1144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E97856-65E8-D295-CF12-104FA64DA184}"/>
              </a:ext>
            </a:extLst>
          </p:cNvPr>
          <p:cNvSpPr txBox="1"/>
          <p:nvPr/>
        </p:nvSpPr>
        <p:spPr>
          <a:xfrm>
            <a:off x="710016" y="353848"/>
            <a:ext cx="1927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Response Table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5787437C-A532-6D02-0BB0-2FDCEF680AB5}"/>
              </a:ext>
            </a:extLst>
          </p:cNvPr>
          <p:cNvSpPr/>
          <p:nvPr/>
        </p:nvSpPr>
        <p:spPr>
          <a:xfrm>
            <a:off x="258978" y="2087486"/>
            <a:ext cx="985652" cy="333571"/>
          </a:xfrm>
          <a:prstGeom prst="wedgeRoundRectCallout">
            <a:avLst>
              <a:gd name="adj1" fmla="val -351"/>
              <a:gd name="adj2" fmla="val -136863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Agree?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32D6116C-0D1F-35EE-163E-EF41BEE0D3EB}"/>
              </a:ext>
            </a:extLst>
          </p:cNvPr>
          <p:cNvSpPr/>
          <p:nvPr/>
        </p:nvSpPr>
        <p:spPr>
          <a:xfrm>
            <a:off x="2097675" y="2118010"/>
            <a:ext cx="1191718" cy="333571"/>
          </a:xfrm>
          <a:prstGeom prst="wedgeRoundRectCallout">
            <a:avLst>
              <a:gd name="adj1" fmla="val -38905"/>
              <a:gd name="adj2" fmla="val -126183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Disagree?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23ABAF-5947-8EE8-70D6-B17736AF1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912" y="2442036"/>
            <a:ext cx="2405742" cy="16157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7495E9-70DC-A06E-03DE-365F2604DF41}"/>
              </a:ext>
            </a:extLst>
          </p:cNvPr>
          <p:cNvSpPr txBox="1"/>
          <p:nvPr/>
        </p:nvSpPr>
        <p:spPr>
          <a:xfrm>
            <a:off x="4986084" y="4057744"/>
            <a:ext cx="1873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Question Table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28FC9C-F047-33F3-B94D-6A090C73F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912" y="865705"/>
            <a:ext cx="2546020" cy="965063"/>
          </a:xfrm>
          <a:prstGeom prst="rect">
            <a:avLst/>
          </a:prstGeom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CB50DD91-D167-3F16-4727-06AEA35CA99F}"/>
              </a:ext>
            </a:extLst>
          </p:cNvPr>
          <p:cNvSpPr/>
          <p:nvPr/>
        </p:nvSpPr>
        <p:spPr>
          <a:xfrm>
            <a:off x="3387136" y="1019933"/>
            <a:ext cx="1235033" cy="752176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Reshape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9CCA4016-D657-9F2C-7C98-EA1E5AAF56B4}"/>
              </a:ext>
            </a:extLst>
          </p:cNvPr>
          <p:cNvSpPr/>
          <p:nvPr/>
        </p:nvSpPr>
        <p:spPr>
          <a:xfrm>
            <a:off x="7363675" y="1542219"/>
            <a:ext cx="912418" cy="752176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Join</a:t>
            </a:r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CBF27FA6-1942-5013-1AA4-70E9AB8BFD04}"/>
              </a:ext>
            </a:extLst>
          </p:cNvPr>
          <p:cNvSpPr/>
          <p:nvPr/>
        </p:nvSpPr>
        <p:spPr>
          <a:xfrm>
            <a:off x="5785228" y="1951071"/>
            <a:ext cx="386862" cy="398498"/>
          </a:xfrm>
          <a:prstGeom prst="plus">
            <a:avLst>
              <a:gd name="adj" fmla="val 3904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78F6159-7F10-CF08-E92E-CDD0458F84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3602" y="3586341"/>
            <a:ext cx="4648008" cy="132556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30B05CB-9B42-8308-BEB1-E4A3094AE1D0}"/>
              </a:ext>
            </a:extLst>
          </p:cNvPr>
          <p:cNvSpPr txBox="1"/>
          <p:nvPr/>
        </p:nvSpPr>
        <p:spPr>
          <a:xfrm>
            <a:off x="4622169" y="429858"/>
            <a:ext cx="289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Stacked Response Table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98B5F1E9-3E41-A853-EE64-FC4DF99C271F}"/>
              </a:ext>
            </a:extLst>
          </p:cNvPr>
          <p:cNvSpPr/>
          <p:nvPr/>
        </p:nvSpPr>
        <p:spPr>
          <a:xfrm rot="5400000">
            <a:off x="9645613" y="2479150"/>
            <a:ext cx="1381973" cy="752176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Transform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F988BE1-09AD-3A10-1087-6FB9D7F7A7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3836" y="1025788"/>
            <a:ext cx="3559186" cy="109834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A1BA8E1-68F5-F431-D370-AF2F5899B664}"/>
              </a:ext>
            </a:extLst>
          </p:cNvPr>
          <p:cNvSpPr txBox="1"/>
          <p:nvPr/>
        </p:nvSpPr>
        <p:spPr>
          <a:xfrm>
            <a:off x="9206481" y="538514"/>
            <a:ext cx="1571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Joined Table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6CA3B4F-C764-70FA-45EA-13E44CF9DE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5349690"/>
            <a:ext cx="1883285" cy="1291946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95BF036-E276-1F8A-1E6E-55B9C8048FCE}"/>
              </a:ext>
            </a:extLst>
          </p:cNvPr>
          <p:cNvCxnSpPr>
            <a:cxnSpLocks/>
          </p:cNvCxnSpPr>
          <p:nvPr/>
        </p:nvCxnSpPr>
        <p:spPr>
          <a:xfrm flipH="1">
            <a:off x="187842" y="4710480"/>
            <a:ext cx="7175833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Bent Arrow 35">
            <a:extLst>
              <a:ext uri="{FF2B5EF4-FFF2-40B4-BE49-F238E27FC236}">
                <a16:creationId xmlns:a16="http://schemas.microsoft.com/office/drawing/2014/main" id="{CE0D94A1-A5DC-494C-B0FC-970F03EFA527}"/>
              </a:ext>
            </a:extLst>
          </p:cNvPr>
          <p:cNvSpPr/>
          <p:nvPr/>
        </p:nvSpPr>
        <p:spPr>
          <a:xfrm flipH="1" flipV="1">
            <a:off x="8276092" y="4952022"/>
            <a:ext cx="2239507" cy="1291944"/>
          </a:xfrm>
          <a:prstGeom prst="bentArrow">
            <a:avLst>
              <a:gd name="adj1" fmla="val 25000"/>
              <a:gd name="adj2" fmla="val 19556"/>
              <a:gd name="adj3" fmla="val 25000"/>
              <a:gd name="adj4" fmla="val 4375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5C874C-7FED-DD39-6506-046FDCD22CA7}"/>
              </a:ext>
            </a:extLst>
          </p:cNvPr>
          <p:cNvSpPr txBox="1"/>
          <p:nvPr/>
        </p:nvSpPr>
        <p:spPr>
          <a:xfrm>
            <a:off x="8843881" y="5810997"/>
            <a:ext cx="1148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Aggregate</a:t>
            </a:r>
          </a:p>
        </p:txBody>
      </p:sp>
      <p:sp>
        <p:nvSpPr>
          <p:cNvPr id="38" name="Left Arrow 37">
            <a:extLst>
              <a:ext uri="{FF2B5EF4-FFF2-40B4-BE49-F238E27FC236}">
                <a16:creationId xmlns:a16="http://schemas.microsoft.com/office/drawing/2014/main" id="{FC9A7FDE-113F-7696-C45F-2E844AF6BE10}"/>
              </a:ext>
            </a:extLst>
          </p:cNvPr>
          <p:cNvSpPr/>
          <p:nvPr/>
        </p:nvSpPr>
        <p:spPr>
          <a:xfrm>
            <a:off x="4457398" y="5719798"/>
            <a:ext cx="1465385" cy="645972"/>
          </a:xfrm>
          <a:prstGeom prst="lef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Unstack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0D20AF0-13A4-DF28-F4BE-3209F50DAE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389" y="5349690"/>
            <a:ext cx="3943851" cy="114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93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139</Words>
  <Application>Microsoft Macintosh PowerPoint</Application>
  <PresentationFormat>Widescreen</PresentationFormat>
  <Paragraphs>39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ADLaM Display</vt:lpstr>
      <vt:lpstr>Aptos</vt:lpstr>
      <vt:lpstr>Aptos Display</vt:lpstr>
      <vt:lpstr>Arial</vt:lpstr>
      <vt:lpstr>Office Theme</vt:lpstr>
      <vt:lpstr>Session 3</vt:lpstr>
      <vt:lpstr>Exercise 1 Write out the steps (handout 1)</vt:lpstr>
      <vt:lpstr>Exercise 2 Write out the steps (handout 2)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Iverson, Todd</dc:creator>
  <cp:lastModifiedBy>Iverson, Todd</cp:lastModifiedBy>
  <cp:revision>1</cp:revision>
  <dcterms:created xsi:type="dcterms:W3CDTF">2026-07-11T19:58:13Z</dcterms:created>
  <dcterms:modified xsi:type="dcterms:W3CDTF">2026-07-11T20:49:02Z</dcterms:modified>
</cp:coreProperties>
</file>