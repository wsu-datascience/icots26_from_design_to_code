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430" r:id="rId5"/>
    <p:sldId id="278" r:id="rId6"/>
    <p:sldId id="431" r:id="rId7"/>
    <p:sldId id="456" r:id="rId8"/>
    <p:sldId id="375" r:id="rId9"/>
    <p:sldId id="347" r:id="rId10"/>
    <p:sldId id="349" r:id="rId11"/>
    <p:sldId id="350" r:id="rId12"/>
    <p:sldId id="339" r:id="rId13"/>
    <p:sldId id="348" r:id="rId14"/>
    <p:sldId id="376" r:id="rId15"/>
    <p:sldId id="449" r:id="rId16"/>
    <p:sldId id="492" r:id="rId17"/>
    <p:sldId id="3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141E66-DD56-A305-25F9-B53E4F2CC95B}" name="Iverson, Todd" initials="IT" userId="S::bn8210wy@minnstate.edu::9c98d153-5bdd-4c8f-82c0-8e192650d5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7B7FF"/>
    <a:srgbClr val="406FDF"/>
    <a:srgbClr val="0070C0"/>
    <a:srgbClr val="70AD47"/>
    <a:srgbClr val="4472C4"/>
    <a:srgbClr val="FF9138"/>
    <a:srgbClr val="EDEDED"/>
    <a:srgbClr val="FFD966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43" autoAdjust="0"/>
    <p:restoredTop sz="94693"/>
  </p:normalViewPr>
  <p:slideViewPr>
    <p:cSldViewPr snapToGrid="0">
      <p:cViewPr varScale="1">
        <p:scale>
          <a:sx n="86" d="100"/>
          <a:sy n="86" d="100"/>
        </p:scale>
        <p:origin x="13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76049-8B5A-4F57-ACFD-9BE1D2CA667C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E9EB66-32E9-496F-8812-FCB09C43D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1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F63CB-7BED-0948-B43E-42487ADAB3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72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F63CB-7BED-0948-B43E-42487ADAB3E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5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F63CB-7BED-0948-B43E-42487ADAB3E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0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F63CB-7BED-0948-B43E-42487ADAB3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83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Then just in the nick of time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5B13A7-3F55-9746-A0A5-C673C1C6AB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21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BF63CB-7BED-0948-B43E-42487ADAB3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28F2-E86C-4915-9F10-A7B40D4F9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E4354-9C92-4279-808A-896A94595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C8F8-AE9F-4389-A03A-FE377D0B8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21464-F07C-4E9D-A4EC-9E84BE34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2B7BB-1409-4AC1-92FA-41769A500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809A-B03F-4EA9-B535-02E4C97D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E0D43-472F-415B-AB68-9B56D9040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9AD2B-661C-4FDB-A9A1-B636C866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371A3-7508-4B00-83BE-A932647A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7F7E4-A08D-4C5F-9940-5BCB9F1E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7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9582D-BA6A-448A-95BE-F367E29BB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A17F9-A4FE-4487-85F1-A90921902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59CF-A235-422D-9ACE-AE30284E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17463-6C3F-4827-AC3D-A59E5834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3119-2E85-46D1-AFD5-B1647F20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8071-CD65-4536-94EB-7AAC00F7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E4916-060F-4CAA-81FD-3B4589331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BEBC7-17D4-483B-B0E7-E6AE60CB2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E6F5E-A2BA-4109-A469-C70105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72A5B3-1BC1-48A4-A945-14619274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FF2E8-6D7B-44E5-B9CC-112E253C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7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8D9C-355B-4DE3-934E-09A445D7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21084-A0BA-4E55-A59F-040CF2B9E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06DD4-555D-4D22-86B3-7BE826D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B8D1FB-D664-42E4-A14A-1FB69F36C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06E22-9831-4C36-954C-B7C83C8AD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B2F1A-E0F3-48F1-8829-CD6076FE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A6293-BD86-490E-A71C-70550A46A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848E7-EABD-4E3F-B5F5-0A650C17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3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938E-CBB0-41AF-BACD-56E6F972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A584C-4FA0-4642-915D-83E05C72B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A1804-5842-4BDE-87F2-108B6B31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D80F3-8159-402A-86B7-126440B8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9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7185B-3AEE-4F8B-A38B-41274C1E6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EB8C4-37C3-43C1-A2B2-04B67306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C43B-DDAE-485D-895C-129062FDC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82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3EF4-13A0-4D34-95B3-47F124E80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81C5B-0F14-4BAC-93B4-1E02A81C1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CFD77-89E0-43D8-9974-3E4C94E3A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5E812-1C2D-4E47-933A-7C2AE61DE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83740-565F-4E10-8CA4-62804427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D39F6-DB28-45D3-99A0-F66984AE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EA98-BC23-4674-84DD-3860C1A0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8B7219-825E-4FAA-A017-4AF321B49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B91C2-21F8-4160-968C-C734AD19D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551A7-99AD-44DA-A7CD-C41AFAE0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16F9E-8691-4C52-9BC8-C2516BF7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DDEBB-A60F-4FFE-B3DF-EEB63DAC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0FF62-4491-4A91-8240-C0DB729F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91B00-7E50-42CF-BEDF-CCE48F40A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84140-2B68-4B8B-B1AE-53F88E36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76BDD-6420-4C2C-8A18-9C5DBB4A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322C6-C81A-4065-AA27-ED9C6F36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61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A23A0-FA08-4B85-ABAF-D54B0DAB9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79326-7359-406B-9220-88256DB67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71C3A-57BE-425C-B2F8-8C7BE8A7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0E778-ABFF-47BA-84C0-87DA13DD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65463-21B4-495A-854C-2B8606DF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1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F9DD8-A248-47CE-BB19-627FA860C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0F1F6-4A8A-4230-A54E-AB9B7C31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02549-1DDE-4237-9868-AACDD7197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818B7-DAAF-4183-9989-87A75440A4E9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15AA-25DB-4454-BDD7-DE45D9476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5C10B-FB42-4445-B632-9B49DA4A2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F199E-0562-44D2-B5A5-4934E3B1B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5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tatsclass.org/dsci210/Dataverb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87E020-9E33-3340-BC21-39F4EA6F8CE8}"/>
              </a:ext>
            </a:extLst>
          </p:cNvPr>
          <p:cNvSpPr txBox="1"/>
          <p:nvPr/>
        </p:nvSpPr>
        <p:spPr>
          <a:xfrm>
            <a:off x="1713385" y="2582614"/>
            <a:ext cx="876523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+mj-lt"/>
              </a:rPr>
              <a:t>Technology Agnostic</a:t>
            </a:r>
          </a:p>
          <a:p>
            <a:pPr algn="ctr"/>
            <a:r>
              <a:rPr lang="en-US" sz="3200" dirty="0">
                <a:latin typeface="+mj-lt"/>
              </a:rPr>
              <a:t>Teach concepts before specific technology</a:t>
            </a:r>
          </a:p>
        </p:txBody>
      </p:sp>
    </p:spTree>
    <p:extLst>
      <p:ext uri="{BB962C8B-B14F-4D97-AF65-F5344CB8AC3E}">
        <p14:creationId xmlns:p14="http://schemas.microsoft.com/office/powerpoint/2010/main" val="671669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F51D142F-B001-4983-81AE-88E6DEAC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509955"/>
              </p:ext>
            </p:extLst>
          </p:nvPr>
        </p:nvGraphicFramePr>
        <p:xfrm>
          <a:off x="6587497" y="1559881"/>
          <a:ext cx="841906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0953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20953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5DB902-F0B8-5840-A995-3B5031AFF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497913"/>
              </p:ext>
            </p:extLst>
          </p:nvPr>
        </p:nvGraphicFramePr>
        <p:xfrm>
          <a:off x="1201182" y="1559881"/>
          <a:ext cx="841906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0953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20953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499302-3D83-934A-B0A5-A550B71F982F}"/>
              </a:ext>
            </a:extLst>
          </p:cNvPr>
          <p:cNvSpPr txBox="1"/>
          <p:nvPr/>
        </p:nvSpPr>
        <p:spPr>
          <a:xfrm>
            <a:off x="2422264" y="1737921"/>
            <a:ext cx="166263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Select</a:t>
            </a:r>
            <a:r>
              <a:rPr lang="en-US" sz="2800" b="1" dirty="0"/>
              <a:t> </a:t>
            </a:r>
            <a:r>
              <a:rPr lang="en-US" sz="2800" dirty="0"/>
              <a:t>(D)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D8DE55E-5C43-1B46-9243-5E8A199894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044016"/>
              </p:ext>
            </p:extLst>
          </p:nvPr>
        </p:nvGraphicFramePr>
        <p:xfrm>
          <a:off x="4496604" y="1559881"/>
          <a:ext cx="439560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9560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sp>
        <p:nvSpPr>
          <p:cNvPr id="10" name="Right Arrow 9">
            <a:extLst>
              <a:ext uri="{FF2B5EF4-FFF2-40B4-BE49-F238E27FC236}">
                <a16:creationId xmlns:a16="http://schemas.microsoft.com/office/drawing/2014/main" id="{6F507361-2E34-9549-9258-3B51799E7046}"/>
              </a:ext>
            </a:extLst>
          </p:cNvPr>
          <p:cNvSpPr/>
          <p:nvPr/>
        </p:nvSpPr>
        <p:spPr>
          <a:xfrm>
            <a:off x="2466701" y="2542661"/>
            <a:ext cx="1606291" cy="309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E42CBE-746E-304B-9EFD-B7DFF690AC42}"/>
              </a:ext>
            </a:extLst>
          </p:cNvPr>
          <p:cNvSpPr txBox="1"/>
          <p:nvPr/>
        </p:nvSpPr>
        <p:spPr>
          <a:xfrm>
            <a:off x="7817575" y="1683597"/>
            <a:ext cx="176682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/>
              <a:t>Filter </a:t>
            </a:r>
            <a:br>
              <a:rPr lang="en-US" sz="2800" b="1" dirty="0"/>
            </a:br>
            <a:r>
              <a:rPr lang="en-US" sz="2800" dirty="0"/>
              <a:t>(G is not a)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9CFEF2F-C1F2-F549-ACED-A73611F2176E}"/>
              </a:ext>
            </a:extLst>
          </p:cNvPr>
          <p:cNvSpPr/>
          <p:nvPr/>
        </p:nvSpPr>
        <p:spPr>
          <a:xfrm>
            <a:off x="7897845" y="2726848"/>
            <a:ext cx="1606291" cy="310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CAF3A6A-1FAB-354A-8140-F94E47699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793126"/>
              </p:ext>
            </p:extLst>
          </p:nvPr>
        </p:nvGraphicFramePr>
        <p:xfrm>
          <a:off x="9884179" y="1903830"/>
          <a:ext cx="841906" cy="18288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57939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383967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95992B6-B67B-FE4E-BAEA-14BA6BA1A211}"/>
              </a:ext>
            </a:extLst>
          </p:cNvPr>
          <p:cNvSpPr txBox="1"/>
          <p:nvPr/>
        </p:nvSpPr>
        <p:spPr>
          <a:xfrm>
            <a:off x="2288408" y="4523005"/>
            <a:ext cx="156164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/>
              <a:t>Mutate</a:t>
            </a:r>
            <a:r>
              <a:rPr lang="en-US" sz="2800" b="1" dirty="0"/>
              <a:t> </a:t>
            </a:r>
            <a:br>
              <a:rPr lang="en-US" sz="2800" b="1" dirty="0"/>
            </a:br>
            <a:r>
              <a:rPr lang="en-US" sz="2800" dirty="0"/>
              <a:t>(N = 2*D)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E15AE471-0EA1-A140-9D53-69AAD3C3401F}"/>
              </a:ext>
            </a:extLst>
          </p:cNvPr>
          <p:cNvSpPr/>
          <p:nvPr/>
        </p:nvSpPr>
        <p:spPr>
          <a:xfrm>
            <a:off x="2237541" y="5596657"/>
            <a:ext cx="1606291" cy="310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642067E-90E5-7745-83DE-90E77FE1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634263"/>
              </p:ext>
            </p:extLst>
          </p:nvPr>
        </p:nvGraphicFramePr>
        <p:xfrm>
          <a:off x="1198614" y="4336907"/>
          <a:ext cx="844474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23784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20690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11BFF7E-4094-AE4E-B1A4-4EEA10095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869251"/>
              </p:ext>
            </p:extLst>
          </p:nvPr>
        </p:nvGraphicFramePr>
        <p:xfrm>
          <a:off x="4038285" y="4336907"/>
          <a:ext cx="1351062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50354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50354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  <a:gridCol w="450354">
                  <a:extLst>
                    <a:ext uri="{9D8B030D-6E8A-4147-A177-3AD203B41FA5}">
                      <a16:colId xmlns:a16="http://schemas.microsoft.com/office/drawing/2014/main" val="33453403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FB46C33-669D-F44E-835D-358436B47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559933"/>
              </p:ext>
            </p:extLst>
          </p:nvPr>
        </p:nvGraphicFramePr>
        <p:xfrm>
          <a:off x="6584929" y="4336907"/>
          <a:ext cx="884596" cy="2438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9979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44617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sp>
        <p:nvSpPr>
          <p:cNvPr id="37" name="Right Arrow 36">
            <a:extLst>
              <a:ext uri="{FF2B5EF4-FFF2-40B4-BE49-F238E27FC236}">
                <a16:creationId xmlns:a16="http://schemas.microsoft.com/office/drawing/2014/main" id="{0A4F290C-A748-7745-9B69-450AE104E9EE}"/>
              </a:ext>
            </a:extLst>
          </p:cNvPr>
          <p:cNvSpPr/>
          <p:nvPr/>
        </p:nvSpPr>
        <p:spPr>
          <a:xfrm>
            <a:off x="7895277" y="5284728"/>
            <a:ext cx="1606291" cy="3119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2E0164-54F0-DC49-ADD3-8FFA85B9CCBF}"/>
              </a:ext>
            </a:extLst>
          </p:cNvPr>
          <p:cNvSpPr txBox="1"/>
          <p:nvPr/>
        </p:nvSpPr>
        <p:spPr>
          <a:xfrm>
            <a:off x="7843861" y="4592718"/>
            <a:ext cx="17508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Sort</a:t>
            </a:r>
            <a:r>
              <a:rPr lang="en-US" sz="2800" b="1" dirty="0"/>
              <a:t> </a:t>
            </a:r>
            <a:r>
              <a:rPr lang="en-US" sz="2800" dirty="0"/>
              <a:t>(D, G)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1E4D9E9-F561-514A-B989-DBA0AFD22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35468"/>
              </p:ext>
            </p:extLst>
          </p:nvPr>
        </p:nvGraphicFramePr>
        <p:xfrm>
          <a:off x="9881611" y="4358243"/>
          <a:ext cx="960502" cy="241706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90719">
                  <a:extLst>
                    <a:ext uri="{9D8B030D-6E8A-4147-A177-3AD203B41FA5}">
                      <a16:colId xmlns:a16="http://schemas.microsoft.com/office/drawing/2014/main" val="2196881237"/>
                    </a:ext>
                  </a:extLst>
                </a:gridCol>
                <a:gridCol w="469783">
                  <a:extLst>
                    <a:ext uri="{9D8B030D-6E8A-4147-A177-3AD203B41FA5}">
                      <a16:colId xmlns:a16="http://schemas.microsoft.com/office/drawing/2014/main" val="2731433960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+mn-lt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918069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496596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0745293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973523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940551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9665167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799794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7817009"/>
                  </a:ext>
                </a:extLst>
              </a:tr>
            </a:tbl>
          </a:graphicData>
        </a:graphic>
      </p:graphicFrame>
      <p:grpSp>
        <p:nvGrpSpPr>
          <p:cNvPr id="47" name="Group 46">
            <a:extLst>
              <a:ext uri="{FF2B5EF4-FFF2-40B4-BE49-F238E27FC236}">
                <a16:creationId xmlns:a16="http://schemas.microsoft.com/office/drawing/2014/main" id="{F76D55E5-DFD9-0048-80B8-7B565508EF68}"/>
              </a:ext>
            </a:extLst>
          </p:cNvPr>
          <p:cNvGrpSpPr/>
          <p:nvPr/>
        </p:nvGrpSpPr>
        <p:grpSpPr>
          <a:xfrm>
            <a:off x="1662762" y="1904294"/>
            <a:ext cx="335497" cy="2093987"/>
            <a:chOff x="538805" y="999865"/>
            <a:chExt cx="312782" cy="2017392"/>
          </a:xfrm>
        </p:grpSpPr>
        <p:sp>
          <p:nvSpPr>
            <p:cNvPr id="40" name="&quot;No&quot; Symbol 39">
              <a:extLst>
                <a:ext uri="{FF2B5EF4-FFF2-40B4-BE49-F238E27FC236}">
                  <a16:creationId xmlns:a16="http://schemas.microsoft.com/office/drawing/2014/main" id="{124B5916-7AB1-7B41-954B-83DFA8A6261C}"/>
                </a:ext>
              </a:extLst>
            </p:cNvPr>
            <p:cNvSpPr/>
            <p:nvPr/>
          </p:nvSpPr>
          <p:spPr>
            <a:xfrm>
              <a:off x="545314" y="999865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&quot;No&quot; Symbol 40">
              <a:extLst>
                <a:ext uri="{FF2B5EF4-FFF2-40B4-BE49-F238E27FC236}">
                  <a16:creationId xmlns:a16="http://schemas.microsoft.com/office/drawing/2014/main" id="{792031F6-40D5-EC41-88B4-99C5329936E5}"/>
                </a:ext>
              </a:extLst>
            </p:cNvPr>
            <p:cNvSpPr/>
            <p:nvPr/>
          </p:nvSpPr>
          <p:spPr>
            <a:xfrm>
              <a:off x="545314" y="1282525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&quot;No&quot; Symbol 41">
              <a:extLst>
                <a:ext uri="{FF2B5EF4-FFF2-40B4-BE49-F238E27FC236}">
                  <a16:creationId xmlns:a16="http://schemas.microsoft.com/office/drawing/2014/main" id="{1DA5FBCC-EDF1-5B47-9CD0-3618335DEDC7}"/>
                </a:ext>
              </a:extLst>
            </p:cNvPr>
            <p:cNvSpPr/>
            <p:nvPr/>
          </p:nvSpPr>
          <p:spPr>
            <a:xfrm>
              <a:off x="538805" y="1571647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&quot;No&quot; Symbol 42">
              <a:extLst>
                <a:ext uri="{FF2B5EF4-FFF2-40B4-BE49-F238E27FC236}">
                  <a16:creationId xmlns:a16="http://schemas.microsoft.com/office/drawing/2014/main" id="{4651F074-C5F4-2F47-8329-BB28F075A4B8}"/>
                </a:ext>
              </a:extLst>
            </p:cNvPr>
            <p:cNvSpPr/>
            <p:nvPr/>
          </p:nvSpPr>
          <p:spPr>
            <a:xfrm>
              <a:off x="538805" y="1854307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&quot;No&quot; Symbol 43">
              <a:extLst>
                <a:ext uri="{FF2B5EF4-FFF2-40B4-BE49-F238E27FC236}">
                  <a16:creationId xmlns:a16="http://schemas.microsoft.com/office/drawing/2014/main" id="{735CCB64-6E1D-4243-9EC4-AF8B31FE9BD0}"/>
                </a:ext>
              </a:extLst>
            </p:cNvPr>
            <p:cNvSpPr/>
            <p:nvPr/>
          </p:nvSpPr>
          <p:spPr>
            <a:xfrm>
              <a:off x="545314" y="2149891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5" name="&quot;No&quot; Symbol 44">
              <a:extLst>
                <a:ext uri="{FF2B5EF4-FFF2-40B4-BE49-F238E27FC236}">
                  <a16:creationId xmlns:a16="http://schemas.microsoft.com/office/drawing/2014/main" id="{837437F7-E9FA-BF42-9EA2-25CDAE00EBF8}"/>
                </a:ext>
              </a:extLst>
            </p:cNvPr>
            <p:cNvSpPr/>
            <p:nvPr/>
          </p:nvSpPr>
          <p:spPr>
            <a:xfrm>
              <a:off x="545314" y="2432551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46" name="&quot;No&quot; Symbol 45">
              <a:extLst>
                <a:ext uri="{FF2B5EF4-FFF2-40B4-BE49-F238E27FC236}">
                  <a16:creationId xmlns:a16="http://schemas.microsoft.com/office/drawing/2014/main" id="{B9BE30B1-794C-B140-AEC9-38024858846D}"/>
                </a:ext>
              </a:extLst>
            </p:cNvPr>
            <p:cNvSpPr/>
            <p:nvPr/>
          </p:nvSpPr>
          <p:spPr>
            <a:xfrm>
              <a:off x="545314" y="2728135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551CAF5-0AA0-AF4A-8710-C1B4B8E2016C}"/>
              </a:ext>
            </a:extLst>
          </p:cNvPr>
          <p:cNvGrpSpPr/>
          <p:nvPr/>
        </p:nvGrpSpPr>
        <p:grpSpPr>
          <a:xfrm>
            <a:off x="6648248" y="1875067"/>
            <a:ext cx="719655" cy="622718"/>
            <a:chOff x="3812413" y="993403"/>
            <a:chExt cx="619735" cy="573661"/>
          </a:xfrm>
        </p:grpSpPr>
        <p:sp>
          <p:nvSpPr>
            <p:cNvPr id="48" name="&quot;No&quot; Symbol 47">
              <a:extLst>
                <a:ext uri="{FF2B5EF4-FFF2-40B4-BE49-F238E27FC236}">
                  <a16:creationId xmlns:a16="http://schemas.microsoft.com/office/drawing/2014/main" id="{093A9808-27C8-B64F-8A5A-938FED11F40E}"/>
                </a:ext>
              </a:extLst>
            </p:cNvPr>
            <p:cNvSpPr/>
            <p:nvPr/>
          </p:nvSpPr>
          <p:spPr>
            <a:xfrm>
              <a:off x="3812413" y="993403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&quot;No&quot; Symbol 48">
              <a:extLst>
                <a:ext uri="{FF2B5EF4-FFF2-40B4-BE49-F238E27FC236}">
                  <a16:creationId xmlns:a16="http://schemas.microsoft.com/office/drawing/2014/main" id="{6FC68599-CFEB-2648-9C28-93F94450A7C5}"/>
                </a:ext>
              </a:extLst>
            </p:cNvPr>
            <p:cNvSpPr/>
            <p:nvPr/>
          </p:nvSpPr>
          <p:spPr>
            <a:xfrm>
              <a:off x="4116406" y="993403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&quot;No&quot; Symbol 49">
              <a:extLst>
                <a:ext uri="{FF2B5EF4-FFF2-40B4-BE49-F238E27FC236}">
                  <a16:creationId xmlns:a16="http://schemas.microsoft.com/office/drawing/2014/main" id="{C6DECE54-406D-9248-BFDD-A733F8FC31D5}"/>
                </a:ext>
              </a:extLst>
            </p:cNvPr>
            <p:cNvSpPr/>
            <p:nvPr/>
          </p:nvSpPr>
          <p:spPr>
            <a:xfrm>
              <a:off x="3821882" y="1277942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&quot;No&quot; Symbol 50">
              <a:extLst>
                <a:ext uri="{FF2B5EF4-FFF2-40B4-BE49-F238E27FC236}">
                  <a16:creationId xmlns:a16="http://schemas.microsoft.com/office/drawing/2014/main" id="{43CC5712-5F98-754D-86B9-EC1E6AA7D194}"/>
                </a:ext>
              </a:extLst>
            </p:cNvPr>
            <p:cNvSpPr/>
            <p:nvPr/>
          </p:nvSpPr>
          <p:spPr>
            <a:xfrm>
              <a:off x="4125875" y="1277942"/>
              <a:ext cx="306273" cy="289122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B570A43-B42B-B74C-B2C8-CC7E1450DDF7}"/>
              </a:ext>
            </a:extLst>
          </p:cNvPr>
          <p:cNvCxnSpPr>
            <a:cxnSpLocks/>
          </p:cNvCxnSpPr>
          <p:nvPr/>
        </p:nvCxnSpPr>
        <p:spPr>
          <a:xfrm>
            <a:off x="775724" y="4163008"/>
            <a:ext cx="10316215" cy="0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2C9381-04A7-C640-AAD7-211DE833A9E8}"/>
              </a:ext>
            </a:extLst>
          </p:cNvPr>
          <p:cNvCxnSpPr>
            <a:cxnSpLocks/>
          </p:cNvCxnSpPr>
          <p:nvPr/>
        </p:nvCxnSpPr>
        <p:spPr>
          <a:xfrm>
            <a:off x="5815538" y="1338190"/>
            <a:ext cx="0" cy="5437117"/>
          </a:xfrm>
          <a:prstGeom prst="line">
            <a:avLst/>
          </a:prstGeom>
          <a:ln w="76200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n 4">
            <a:extLst>
              <a:ext uri="{FF2B5EF4-FFF2-40B4-BE49-F238E27FC236}">
                <a16:creationId xmlns:a16="http://schemas.microsoft.com/office/drawing/2014/main" id="{A4F952D7-5C7A-3F05-8849-4CAE7F8CDC4A}"/>
              </a:ext>
            </a:extLst>
          </p:cNvPr>
          <p:cNvSpPr/>
          <p:nvPr/>
        </p:nvSpPr>
        <p:spPr>
          <a:xfrm>
            <a:off x="8481192" y="82693"/>
            <a:ext cx="1173423" cy="98488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Management</a:t>
            </a:r>
          </a:p>
        </p:txBody>
      </p:sp>
      <p:sp>
        <p:nvSpPr>
          <p:cNvPr id="6" name="Can 5">
            <a:extLst>
              <a:ext uri="{FF2B5EF4-FFF2-40B4-BE49-F238E27FC236}">
                <a16:creationId xmlns:a16="http://schemas.microsoft.com/office/drawing/2014/main" id="{48D0C928-88BA-ED3E-A191-F817CC538576}"/>
              </a:ext>
            </a:extLst>
          </p:cNvPr>
          <p:cNvSpPr/>
          <p:nvPr/>
        </p:nvSpPr>
        <p:spPr>
          <a:xfrm>
            <a:off x="9711412" y="82693"/>
            <a:ext cx="1130701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Summaries</a:t>
            </a:r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Visualization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86EE6D81-78A5-FB88-44C1-EE27C9703CF8}"/>
              </a:ext>
            </a:extLst>
          </p:cNvPr>
          <p:cNvSpPr/>
          <p:nvPr/>
        </p:nvSpPr>
        <p:spPr>
          <a:xfrm>
            <a:off x="10898910" y="82693"/>
            <a:ext cx="1173423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Learning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D2DDC24-4BC9-A61B-922C-C1E2679BF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3"/>
            <a:ext cx="10515600" cy="1325563"/>
          </a:xfrm>
        </p:spPr>
        <p:txBody>
          <a:bodyPr/>
          <a:lstStyle/>
          <a:p>
            <a:r>
              <a:rPr lang="en-US" dirty="0"/>
              <a:t>Technology Agnostic</a:t>
            </a:r>
            <a:br>
              <a:rPr lang="en-US" dirty="0"/>
            </a:br>
            <a:r>
              <a:rPr lang="en-US" sz="3200" dirty="0"/>
              <a:t>Data Verbs</a:t>
            </a:r>
          </a:p>
        </p:txBody>
      </p:sp>
    </p:spTree>
    <p:extLst>
      <p:ext uri="{BB962C8B-B14F-4D97-AF65-F5344CB8AC3E}">
        <p14:creationId xmlns:p14="http://schemas.microsoft.com/office/powerpoint/2010/main" val="33023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61CB9-EBCE-624B-BC07-73AC4D82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Exercise 1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sz="3200" dirty="0"/>
              <a:t>Purchasing Snowshoes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A6D823-5AF9-EC45-B78D-2E2A0C0819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690689"/>
            <a:ext cx="8213436" cy="42229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87CEF5-04E7-8343-A47E-A110520032A6}"/>
              </a:ext>
            </a:extLst>
          </p:cNvPr>
          <p:cNvSpPr/>
          <p:nvPr/>
        </p:nvSpPr>
        <p:spPr>
          <a:xfrm>
            <a:off x="838200" y="5969655"/>
            <a:ext cx="6106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hlinkClick r:id="rId3"/>
              </a:rPr>
              <a:t>http://statsclass.org/dsci210/Dataverbs/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965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60485-E131-86A3-141F-EA6D7D9D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5698F2C-8A41-9CC0-E4B2-EAD04AC1AEF7}"/>
              </a:ext>
            </a:extLst>
          </p:cNvPr>
          <p:cNvSpPr txBox="1"/>
          <p:nvPr/>
        </p:nvSpPr>
        <p:spPr>
          <a:xfrm>
            <a:off x="2465113" y="2389643"/>
            <a:ext cx="709423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+mj-lt"/>
              </a:rPr>
              <a:t>Low Code</a:t>
            </a:r>
          </a:p>
          <a:p>
            <a:pPr algn="ctr"/>
            <a:r>
              <a:rPr lang="en-US" sz="3200" dirty="0">
                <a:latin typeface="+mj-lt"/>
              </a:rPr>
              <a:t>Start with technology that minimizes the need for code</a:t>
            </a:r>
          </a:p>
        </p:txBody>
      </p:sp>
    </p:spTree>
    <p:extLst>
      <p:ext uri="{BB962C8B-B14F-4D97-AF65-F5344CB8AC3E}">
        <p14:creationId xmlns:p14="http://schemas.microsoft.com/office/powerpoint/2010/main" val="403015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5FA3-7663-37F6-193E-2181541A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program is hard!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A6F9FE-3F91-469C-F173-8EDF2CF841F8}"/>
              </a:ext>
            </a:extLst>
          </p:cNvPr>
          <p:cNvGrpSpPr/>
          <p:nvPr/>
        </p:nvGrpSpPr>
        <p:grpSpPr>
          <a:xfrm>
            <a:off x="10812332" y="3165613"/>
            <a:ext cx="1082936" cy="2400748"/>
            <a:chOff x="885713" y="2624866"/>
            <a:chExt cx="1082936" cy="240074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B07E104-AEB9-343F-A9C5-504FB317F0C9}"/>
                </a:ext>
              </a:extLst>
            </p:cNvPr>
            <p:cNvSpPr/>
            <p:nvPr/>
          </p:nvSpPr>
          <p:spPr>
            <a:xfrm>
              <a:off x="1011220" y="2624866"/>
              <a:ext cx="430306" cy="6347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5AA972-7080-1F1F-768A-3E6CD7638FD5}"/>
                </a:ext>
              </a:extLst>
            </p:cNvPr>
            <p:cNvCxnSpPr>
              <a:cxnSpLocks/>
              <a:stCxn id="17" idx="4"/>
            </p:cNvCxnSpPr>
            <p:nvPr/>
          </p:nvCxnSpPr>
          <p:spPr>
            <a:xfrm>
              <a:off x="1226373" y="3259567"/>
              <a:ext cx="0" cy="2796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8CCD77-C04F-857E-6AB2-4B335A59E6B7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3550024"/>
              <a:ext cx="1" cy="623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14F3581-1086-4ED2-22EB-044D83B85DA7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4173967"/>
              <a:ext cx="340659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D7AE03-B0B3-279B-05C2-251EE2123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4" y="4173967"/>
              <a:ext cx="340657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4C32B2D-B481-2DF9-1B1E-53023AAB3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371" y="3487719"/>
              <a:ext cx="430307" cy="623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22DD453-1390-34EC-902D-023D3D01B5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679" y="2942216"/>
              <a:ext cx="311970" cy="5455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812447C-CE8C-092E-2A2B-F75FB79CC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019" y="3550024"/>
              <a:ext cx="291352" cy="301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6AAC249-BF30-5562-54CC-F4C5444934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3" y="3851237"/>
              <a:ext cx="64548" cy="3227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Callout 25">
            <a:extLst>
              <a:ext uri="{FF2B5EF4-FFF2-40B4-BE49-F238E27FC236}">
                <a16:creationId xmlns:a16="http://schemas.microsoft.com/office/drawing/2014/main" id="{80BEE62F-75FB-6484-3416-9348077E58DC}"/>
              </a:ext>
            </a:extLst>
          </p:cNvPr>
          <p:cNvSpPr/>
          <p:nvPr/>
        </p:nvSpPr>
        <p:spPr>
          <a:xfrm>
            <a:off x="7191532" y="2086832"/>
            <a:ext cx="2400496" cy="955182"/>
          </a:xfrm>
          <a:prstGeom prst="wedgeEllipseCallout">
            <a:avLst>
              <a:gd name="adj1" fmla="val 112276"/>
              <a:gd name="adj2" fmla="val 1101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should I do first? Second?</a:t>
            </a:r>
          </a:p>
        </p:txBody>
      </p:sp>
      <p:sp>
        <p:nvSpPr>
          <p:cNvPr id="27" name="Oval Callout 26">
            <a:extLst>
              <a:ext uri="{FF2B5EF4-FFF2-40B4-BE49-F238E27FC236}">
                <a16:creationId xmlns:a16="http://schemas.microsoft.com/office/drawing/2014/main" id="{575B1CB6-A058-6350-7186-D9E5F6C204C1}"/>
              </a:ext>
            </a:extLst>
          </p:cNvPr>
          <p:cNvSpPr/>
          <p:nvPr/>
        </p:nvSpPr>
        <p:spPr>
          <a:xfrm>
            <a:off x="8021870" y="5483874"/>
            <a:ext cx="2400496" cy="1009001"/>
          </a:xfrm>
          <a:prstGeom prst="wedgeEllipseCallout">
            <a:avLst>
              <a:gd name="adj1" fmla="val 78461"/>
              <a:gd name="adj2" fmla="val -23546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do I make my code run/correct?</a:t>
            </a:r>
          </a:p>
        </p:txBody>
      </p:sp>
      <p:sp>
        <p:nvSpPr>
          <p:cNvPr id="28" name="Oval Callout 27">
            <a:extLst>
              <a:ext uri="{FF2B5EF4-FFF2-40B4-BE49-F238E27FC236}">
                <a16:creationId xmlns:a16="http://schemas.microsoft.com/office/drawing/2014/main" id="{27A5EF65-5223-8686-1593-2B38F2CD27D4}"/>
              </a:ext>
            </a:extLst>
          </p:cNvPr>
          <p:cNvSpPr/>
          <p:nvPr/>
        </p:nvSpPr>
        <p:spPr>
          <a:xfrm>
            <a:off x="7191532" y="3812565"/>
            <a:ext cx="2400496" cy="902149"/>
          </a:xfrm>
          <a:prstGeom prst="wedgeEllipseCallout">
            <a:avLst>
              <a:gd name="adj1" fmla="val 114997"/>
              <a:gd name="adj2" fmla="val -7436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functions should I use?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1685E6B-D739-590D-B751-ABFCC36ADA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1696202"/>
            <a:ext cx="5824928" cy="485560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3E0194D-C792-C9DF-F0A4-E2CFC8800227}"/>
              </a:ext>
            </a:extLst>
          </p:cNvPr>
          <p:cNvSpPr/>
          <p:nvPr/>
        </p:nvSpPr>
        <p:spPr>
          <a:xfrm>
            <a:off x="644577" y="1558977"/>
            <a:ext cx="6190938" cy="4992827"/>
          </a:xfrm>
          <a:prstGeom prst="rect">
            <a:avLst/>
          </a:prstGeom>
          <a:solidFill>
            <a:srgbClr val="FFFFFF">
              <a:alpha val="6941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0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3A7E-34D3-2943-9DF3-50032419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Doug is struggling!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7D5BF-1442-1F10-E18F-F2A8AD0776F7}"/>
              </a:ext>
            </a:extLst>
          </p:cNvPr>
          <p:cNvGrpSpPr/>
          <p:nvPr/>
        </p:nvGrpSpPr>
        <p:grpSpPr>
          <a:xfrm>
            <a:off x="9786389" y="3210417"/>
            <a:ext cx="1082936" cy="2400748"/>
            <a:chOff x="885713" y="2624866"/>
            <a:chExt cx="1082936" cy="240074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B20F7A-775B-11B9-01F4-B212940F30DF}"/>
                </a:ext>
              </a:extLst>
            </p:cNvPr>
            <p:cNvSpPr/>
            <p:nvPr/>
          </p:nvSpPr>
          <p:spPr>
            <a:xfrm>
              <a:off x="1011220" y="2624866"/>
              <a:ext cx="430306" cy="6347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5A9D24C-190C-8EB6-F27E-5ED0396664E7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1226373" y="3259567"/>
              <a:ext cx="0" cy="2796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CA8BF9-A3FB-68D9-CAD4-6F9EE14D9C80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3550024"/>
              <a:ext cx="1" cy="623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3CC4372-907A-C3E6-CE2C-E9896950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4173967"/>
              <a:ext cx="340659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A64E38B-72FD-D8D6-6972-722C26A7F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4" y="4173967"/>
              <a:ext cx="340657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2F23D8-62F5-3DA0-276A-ACD5364819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371" y="3487719"/>
              <a:ext cx="430307" cy="623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797453D-B7F9-643B-05BF-F33A9A698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679" y="2942216"/>
              <a:ext cx="311970" cy="5455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01BDE6-0BB8-095F-D3B9-D024F198F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019" y="3550024"/>
              <a:ext cx="291352" cy="301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6785701-A9AF-17B5-9DA1-213D42B4B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3" y="3851237"/>
              <a:ext cx="64548" cy="3227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Callout 48">
            <a:extLst>
              <a:ext uri="{FF2B5EF4-FFF2-40B4-BE49-F238E27FC236}">
                <a16:creationId xmlns:a16="http://schemas.microsoft.com/office/drawing/2014/main" id="{9B847B17-C373-FD43-CB73-43BBFC184129}"/>
              </a:ext>
            </a:extLst>
          </p:cNvPr>
          <p:cNvSpPr/>
          <p:nvPr/>
        </p:nvSpPr>
        <p:spPr>
          <a:xfrm>
            <a:off x="6165589" y="2131636"/>
            <a:ext cx="2400496" cy="955182"/>
          </a:xfrm>
          <a:prstGeom prst="wedgeEllipseCallout">
            <a:avLst>
              <a:gd name="adj1" fmla="val 112276"/>
              <a:gd name="adj2" fmla="val 1101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should I do first? Second?</a:t>
            </a:r>
          </a:p>
        </p:txBody>
      </p:sp>
      <p:sp>
        <p:nvSpPr>
          <p:cNvPr id="50" name="Oval Callout 49">
            <a:extLst>
              <a:ext uri="{FF2B5EF4-FFF2-40B4-BE49-F238E27FC236}">
                <a16:creationId xmlns:a16="http://schemas.microsoft.com/office/drawing/2014/main" id="{8E8D6A0A-98F2-EF00-7B53-7F175D04EB44}"/>
              </a:ext>
            </a:extLst>
          </p:cNvPr>
          <p:cNvSpPr/>
          <p:nvPr/>
        </p:nvSpPr>
        <p:spPr>
          <a:xfrm>
            <a:off x="6995927" y="5528678"/>
            <a:ext cx="2400496" cy="1009001"/>
          </a:xfrm>
          <a:prstGeom prst="wedgeEllipseCallout">
            <a:avLst>
              <a:gd name="adj1" fmla="val 78461"/>
              <a:gd name="adj2" fmla="val -2354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do I make my code run/correct?</a:t>
            </a:r>
          </a:p>
        </p:txBody>
      </p:sp>
      <p:sp>
        <p:nvSpPr>
          <p:cNvPr id="51" name="Oval Callout 50">
            <a:extLst>
              <a:ext uri="{FF2B5EF4-FFF2-40B4-BE49-F238E27FC236}">
                <a16:creationId xmlns:a16="http://schemas.microsoft.com/office/drawing/2014/main" id="{32804710-976F-AC88-3DAE-7B3FE7D2E4D0}"/>
              </a:ext>
            </a:extLst>
          </p:cNvPr>
          <p:cNvSpPr/>
          <p:nvPr/>
        </p:nvSpPr>
        <p:spPr>
          <a:xfrm>
            <a:off x="6165589" y="3857369"/>
            <a:ext cx="2400496" cy="902149"/>
          </a:xfrm>
          <a:prstGeom prst="wedgeEllipseCallout">
            <a:avLst>
              <a:gd name="adj1" fmla="val 114997"/>
              <a:gd name="adj2" fmla="val -7436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functions should I use?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CDB06D-A699-49C0-48A4-C2C86A0A70FE}"/>
              </a:ext>
            </a:extLst>
          </p:cNvPr>
          <p:cNvSpPr/>
          <p:nvPr/>
        </p:nvSpPr>
        <p:spPr>
          <a:xfrm>
            <a:off x="1875803" y="1871948"/>
            <a:ext cx="4074633" cy="1474559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Algorithm</a:t>
            </a:r>
          </a:p>
          <a:p>
            <a:pPr algn="ctr"/>
            <a:r>
              <a:rPr lang="en-US" dirty="0"/>
              <a:t>Step-by-step process</a:t>
            </a:r>
          </a:p>
        </p:txBody>
      </p:sp>
    </p:spTree>
    <p:extLst>
      <p:ext uri="{BB962C8B-B14F-4D97-AF65-F5344CB8AC3E}">
        <p14:creationId xmlns:p14="http://schemas.microsoft.com/office/powerpoint/2010/main" val="253231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3A7E-34D3-2943-9DF3-50032419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Doug is struggling!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7D5BF-1442-1F10-E18F-F2A8AD0776F7}"/>
              </a:ext>
            </a:extLst>
          </p:cNvPr>
          <p:cNvGrpSpPr/>
          <p:nvPr/>
        </p:nvGrpSpPr>
        <p:grpSpPr>
          <a:xfrm>
            <a:off x="9786389" y="3210417"/>
            <a:ext cx="1082936" cy="2400748"/>
            <a:chOff x="885713" y="2624866"/>
            <a:chExt cx="1082936" cy="240074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B20F7A-775B-11B9-01F4-B212940F30DF}"/>
                </a:ext>
              </a:extLst>
            </p:cNvPr>
            <p:cNvSpPr/>
            <p:nvPr/>
          </p:nvSpPr>
          <p:spPr>
            <a:xfrm>
              <a:off x="1011220" y="2624866"/>
              <a:ext cx="430306" cy="6347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5A9D24C-190C-8EB6-F27E-5ED0396664E7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1226373" y="3259567"/>
              <a:ext cx="0" cy="2796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CA8BF9-A3FB-68D9-CAD4-6F9EE14D9C80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3550024"/>
              <a:ext cx="1" cy="623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3CC4372-907A-C3E6-CE2C-E9896950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4173967"/>
              <a:ext cx="340659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A64E38B-72FD-D8D6-6972-722C26A7F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4" y="4173967"/>
              <a:ext cx="340657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2F23D8-62F5-3DA0-276A-ACD5364819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371" y="3487719"/>
              <a:ext cx="430307" cy="623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797453D-B7F9-643B-05BF-F33A9A698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679" y="2942216"/>
              <a:ext cx="311970" cy="5455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01BDE6-0BB8-095F-D3B9-D024F198F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019" y="3550024"/>
              <a:ext cx="291352" cy="301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6785701-A9AF-17B5-9DA1-213D42B4B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3" y="3851237"/>
              <a:ext cx="64548" cy="3227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Callout 48">
            <a:extLst>
              <a:ext uri="{FF2B5EF4-FFF2-40B4-BE49-F238E27FC236}">
                <a16:creationId xmlns:a16="http://schemas.microsoft.com/office/drawing/2014/main" id="{9B847B17-C373-FD43-CB73-43BBFC184129}"/>
              </a:ext>
            </a:extLst>
          </p:cNvPr>
          <p:cNvSpPr/>
          <p:nvPr/>
        </p:nvSpPr>
        <p:spPr>
          <a:xfrm>
            <a:off x="6165589" y="2131636"/>
            <a:ext cx="2400496" cy="955182"/>
          </a:xfrm>
          <a:prstGeom prst="wedgeEllipseCallout">
            <a:avLst>
              <a:gd name="adj1" fmla="val 112276"/>
              <a:gd name="adj2" fmla="val 11014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should I do first? Second?</a:t>
            </a:r>
          </a:p>
        </p:txBody>
      </p:sp>
      <p:sp>
        <p:nvSpPr>
          <p:cNvPr id="50" name="Oval Callout 49">
            <a:extLst>
              <a:ext uri="{FF2B5EF4-FFF2-40B4-BE49-F238E27FC236}">
                <a16:creationId xmlns:a16="http://schemas.microsoft.com/office/drawing/2014/main" id="{8E8D6A0A-98F2-EF00-7B53-7F175D04EB44}"/>
              </a:ext>
            </a:extLst>
          </p:cNvPr>
          <p:cNvSpPr/>
          <p:nvPr/>
        </p:nvSpPr>
        <p:spPr>
          <a:xfrm>
            <a:off x="6995927" y="5528678"/>
            <a:ext cx="2400496" cy="1009001"/>
          </a:xfrm>
          <a:prstGeom prst="wedgeEllipseCallout">
            <a:avLst>
              <a:gd name="adj1" fmla="val 78461"/>
              <a:gd name="adj2" fmla="val -2354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do I make my code run/correct?</a:t>
            </a:r>
          </a:p>
        </p:txBody>
      </p:sp>
      <p:sp>
        <p:nvSpPr>
          <p:cNvPr id="51" name="Oval Callout 50">
            <a:extLst>
              <a:ext uri="{FF2B5EF4-FFF2-40B4-BE49-F238E27FC236}">
                <a16:creationId xmlns:a16="http://schemas.microsoft.com/office/drawing/2014/main" id="{32804710-976F-AC88-3DAE-7B3FE7D2E4D0}"/>
              </a:ext>
            </a:extLst>
          </p:cNvPr>
          <p:cNvSpPr/>
          <p:nvPr/>
        </p:nvSpPr>
        <p:spPr>
          <a:xfrm>
            <a:off x="6165589" y="3857369"/>
            <a:ext cx="2400496" cy="902149"/>
          </a:xfrm>
          <a:prstGeom prst="wedgeEllipseCallout">
            <a:avLst>
              <a:gd name="adj1" fmla="val 114997"/>
              <a:gd name="adj2" fmla="val -74365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functions should I use?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CDB06D-A699-49C0-48A4-C2C86A0A70FE}"/>
              </a:ext>
            </a:extLst>
          </p:cNvPr>
          <p:cNvSpPr/>
          <p:nvPr/>
        </p:nvSpPr>
        <p:spPr>
          <a:xfrm>
            <a:off x="1875803" y="1871948"/>
            <a:ext cx="4074633" cy="147455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Algorithm</a:t>
            </a:r>
          </a:p>
          <a:p>
            <a:pPr algn="ctr"/>
            <a:r>
              <a:rPr lang="en-US" dirty="0"/>
              <a:t>Step-by-step process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68F81BB-2A3D-A0B9-44F2-2183C439A7D2}"/>
              </a:ext>
            </a:extLst>
          </p:cNvPr>
          <p:cNvSpPr/>
          <p:nvPr/>
        </p:nvSpPr>
        <p:spPr>
          <a:xfrm>
            <a:off x="1806525" y="3604608"/>
            <a:ext cx="4213188" cy="156278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Implementation</a:t>
            </a:r>
          </a:p>
          <a:p>
            <a:pPr algn="ctr"/>
            <a:r>
              <a:rPr lang="en-US" dirty="0"/>
              <a:t>Which libraries/functions </a:t>
            </a:r>
          </a:p>
        </p:txBody>
      </p:sp>
    </p:spTree>
    <p:extLst>
      <p:ext uri="{BB962C8B-B14F-4D97-AF65-F5344CB8AC3E}">
        <p14:creationId xmlns:p14="http://schemas.microsoft.com/office/powerpoint/2010/main" val="71026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3A7E-34D3-2943-9DF3-50032419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Doug is struggling!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7D5BF-1442-1F10-E18F-F2A8AD0776F7}"/>
              </a:ext>
            </a:extLst>
          </p:cNvPr>
          <p:cNvGrpSpPr/>
          <p:nvPr/>
        </p:nvGrpSpPr>
        <p:grpSpPr>
          <a:xfrm>
            <a:off x="9786389" y="3210417"/>
            <a:ext cx="1082936" cy="2400748"/>
            <a:chOff x="885713" y="2624866"/>
            <a:chExt cx="1082936" cy="240074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B20F7A-775B-11B9-01F4-B212940F30DF}"/>
                </a:ext>
              </a:extLst>
            </p:cNvPr>
            <p:cNvSpPr/>
            <p:nvPr/>
          </p:nvSpPr>
          <p:spPr>
            <a:xfrm>
              <a:off x="1011220" y="2624866"/>
              <a:ext cx="430306" cy="6347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5A9D24C-190C-8EB6-F27E-5ED0396664E7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1226373" y="3259567"/>
              <a:ext cx="0" cy="2796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CA8BF9-A3FB-68D9-CAD4-6F9EE14D9C80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3550024"/>
              <a:ext cx="1" cy="623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3CC4372-907A-C3E6-CE2C-E9896950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4173967"/>
              <a:ext cx="340659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A64E38B-72FD-D8D6-6972-722C26A7F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4" y="4173967"/>
              <a:ext cx="340657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2F23D8-62F5-3DA0-276A-ACD5364819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371" y="3487719"/>
              <a:ext cx="430307" cy="623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797453D-B7F9-643B-05BF-F33A9A698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679" y="2942216"/>
              <a:ext cx="311970" cy="5455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01BDE6-0BB8-095F-D3B9-D024F198F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019" y="3550024"/>
              <a:ext cx="291352" cy="301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6785701-A9AF-17B5-9DA1-213D42B4B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3" y="3851237"/>
              <a:ext cx="64548" cy="3227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Callout 48">
            <a:extLst>
              <a:ext uri="{FF2B5EF4-FFF2-40B4-BE49-F238E27FC236}">
                <a16:creationId xmlns:a16="http://schemas.microsoft.com/office/drawing/2014/main" id="{9B847B17-C373-FD43-CB73-43BBFC184129}"/>
              </a:ext>
            </a:extLst>
          </p:cNvPr>
          <p:cNvSpPr/>
          <p:nvPr/>
        </p:nvSpPr>
        <p:spPr>
          <a:xfrm>
            <a:off x="6165589" y="2131636"/>
            <a:ext cx="2400496" cy="955182"/>
          </a:xfrm>
          <a:prstGeom prst="wedgeEllipseCallout">
            <a:avLst>
              <a:gd name="adj1" fmla="val 112276"/>
              <a:gd name="adj2" fmla="val 110147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should I do first? Second?</a:t>
            </a:r>
          </a:p>
        </p:txBody>
      </p:sp>
      <p:sp>
        <p:nvSpPr>
          <p:cNvPr id="50" name="Oval Callout 49">
            <a:extLst>
              <a:ext uri="{FF2B5EF4-FFF2-40B4-BE49-F238E27FC236}">
                <a16:creationId xmlns:a16="http://schemas.microsoft.com/office/drawing/2014/main" id="{8E8D6A0A-98F2-EF00-7B53-7F175D04EB44}"/>
              </a:ext>
            </a:extLst>
          </p:cNvPr>
          <p:cNvSpPr/>
          <p:nvPr/>
        </p:nvSpPr>
        <p:spPr>
          <a:xfrm>
            <a:off x="6995927" y="5528678"/>
            <a:ext cx="2400496" cy="1009001"/>
          </a:xfrm>
          <a:prstGeom prst="wedgeEllipseCallout">
            <a:avLst>
              <a:gd name="adj1" fmla="val 78461"/>
              <a:gd name="adj2" fmla="val -23546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do I make my code run/correct?</a:t>
            </a:r>
          </a:p>
        </p:txBody>
      </p:sp>
      <p:sp>
        <p:nvSpPr>
          <p:cNvPr id="51" name="Oval Callout 50">
            <a:extLst>
              <a:ext uri="{FF2B5EF4-FFF2-40B4-BE49-F238E27FC236}">
                <a16:creationId xmlns:a16="http://schemas.microsoft.com/office/drawing/2014/main" id="{32804710-976F-AC88-3DAE-7B3FE7D2E4D0}"/>
              </a:ext>
            </a:extLst>
          </p:cNvPr>
          <p:cNvSpPr/>
          <p:nvPr/>
        </p:nvSpPr>
        <p:spPr>
          <a:xfrm>
            <a:off x="6165589" y="3857369"/>
            <a:ext cx="2400496" cy="902149"/>
          </a:xfrm>
          <a:prstGeom prst="wedgeEllipseCallout">
            <a:avLst>
              <a:gd name="adj1" fmla="val 114997"/>
              <a:gd name="adj2" fmla="val -7436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functions should I use?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CDB06D-A699-49C0-48A4-C2C86A0A70FE}"/>
              </a:ext>
            </a:extLst>
          </p:cNvPr>
          <p:cNvSpPr/>
          <p:nvPr/>
        </p:nvSpPr>
        <p:spPr>
          <a:xfrm>
            <a:off x="1875803" y="1871948"/>
            <a:ext cx="4074633" cy="147455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Algorithm</a:t>
            </a:r>
          </a:p>
          <a:p>
            <a:pPr algn="ctr"/>
            <a:r>
              <a:rPr lang="en-US" dirty="0"/>
              <a:t>Step-by-step process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68F81BB-2A3D-A0B9-44F2-2183C439A7D2}"/>
              </a:ext>
            </a:extLst>
          </p:cNvPr>
          <p:cNvSpPr/>
          <p:nvPr/>
        </p:nvSpPr>
        <p:spPr>
          <a:xfrm>
            <a:off x="1806525" y="3604608"/>
            <a:ext cx="4213188" cy="156278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Implementation</a:t>
            </a:r>
          </a:p>
          <a:p>
            <a:pPr algn="ctr"/>
            <a:r>
              <a:rPr lang="en-US" dirty="0"/>
              <a:t>Which libraries/functions 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96FAF31-37E6-B217-50D5-695C106F05C5}"/>
              </a:ext>
            </a:extLst>
          </p:cNvPr>
          <p:cNvSpPr/>
          <p:nvPr/>
        </p:nvSpPr>
        <p:spPr>
          <a:xfrm>
            <a:off x="2064953" y="5366676"/>
            <a:ext cx="4618123" cy="149132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Correct Code</a:t>
            </a:r>
          </a:p>
          <a:p>
            <a:pPr algn="ctr"/>
            <a:r>
              <a:rPr lang="en-US" dirty="0"/>
              <a:t>Avoid bugs and verify correct results</a:t>
            </a:r>
          </a:p>
        </p:txBody>
      </p:sp>
    </p:spTree>
    <p:extLst>
      <p:ext uri="{BB962C8B-B14F-4D97-AF65-F5344CB8AC3E}">
        <p14:creationId xmlns:p14="http://schemas.microsoft.com/office/powerpoint/2010/main" val="65661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2AA2CF-F6FF-DC45-849E-DC40B69DA4B4}"/>
              </a:ext>
            </a:extLst>
          </p:cNvPr>
          <p:cNvSpPr txBox="1"/>
          <p:nvPr/>
        </p:nvSpPr>
        <p:spPr>
          <a:xfrm>
            <a:off x="1127249" y="2872294"/>
            <a:ext cx="102478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We decouple the algorithm and the code!</a:t>
            </a:r>
          </a:p>
        </p:txBody>
      </p:sp>
    </p:spTree>
    <p:extLst>
      <p:ext uri="{BB962C8B-B14F-4D97-AF65-F5344CB8AC3E}">
        <p14:creationId xmlns:p14="http://schemas.microsoft.com/office/powerpoint/2010/main" val="162502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3A7E-34D3-2943-9DF3-50032419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algorithm is most important</a:t>
            </a:r>
            <a:br>
              <a:rPr lang="en-US" dirty="0"/>
            </a:br>
            <a:r>
              <a:rPr lang="en-US" sz="2800" dirty="0"/>
              <a:t>Let’s make sure Doug is proficient here first!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7D5BF-1442-1F10-E18F-F2A8AD0776F7}"/>
              </a:ext>
            </a:extLst>
          </p:cNvPr>
          <p:cNvGrpSpPr/>
          <p:nvPr/>
        </p:nvGrpSpPr>
        <p:grpSpPr>
          <a:xfrm>
            <a:off x="9786389" y="3210417"/>
            <a:ext cx="1082936" cy="2400748"/>
            <a:chOff x="885713" y="2624866"/>
            <a:chExt cx="1082936" cy="240074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AB20F7A-775B-11B9-01F4-B212940F30DF}"/>
                </a:ext>
              </a:extLst>
            </p:cNvPr>
            <p:cNvSpPr/>
            <p:nvPr/>
          </p:nvSpPr>
          <p:spPr>
            <a:xfrm>
              <a:off x="1011220" y="2624866"/>
              <a:ext cx="430306" cy="6347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5A9D24C-190C-8EB6-F27E-5ED0396664E7}"/>
                </a:ext>
              </a:extLst>
            </p:cNvPr>
            <p:cNvCxnSpPr>
              <a:cxnSpLocks/>
              <a:stCxn id="40" idx="4"/>
            </p:cNvCxnSpPr>
            <p:nvPr/>
          </p:nvCxnSpPr>
          <p:spPr>
            <a:xfrm>
              <a:off x="1226373" y="3259567"/>
              <a:ext cx="0" cy="27969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DCA8BF9-A3FB-68D9-CAD4-6F9EE14D9C80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3550024"/>
              <a:ext cx="1" cy="6239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3CC4372-907A-C3E6-CE2C-E9896950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226372" y="4173967"/>
              <a:ext cx="340659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A64E38B-72FD-D8D6-6972-722C26A7F6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4" y="4173967"/>
              <a:ext cx="340657" cy="85164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82F23D8-62F5-3DA0-276A-ACD5364819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26371" y="3487719"/>
              <a:ext cx="430307" cy="623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797453D-B7F9-643B-05BF-F33A9A698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6679" y="2942216"/>
              <a:ext cx="311970" cy="54550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01BDE6-0BB8-095F-D3B9-D024F198FE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5019" y="3550024"/>
              <a:ext cx="291352" cy="301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6785701-A9AF-17B5-9DA1-213D42B4B7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5713" y="3851237"/>
              <a:ext cx="64548" cy="3227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Oval Callout 48">
            <a:extLst>
              <a:ext uri="{FF2B5EF4-FFF2-40B4-BE49-F238E27FC236}">
                <a16:creationId xmlns:a16="http://schemas.microsoft.com/office/drawing/2014/main" id="{9B847B17-C373-FD43-CB73-43BBFC184129}"/>
              </a:ext>
            </a:extLst>
          </p:cNvPr>
          <p:cNvSpPr/>
          <p:nvPr/>
        </p:nvSpPr>
        <p:spPr>
          <a:xfrm>
            <a:off x="6165589" y="2131636"/>
            <a:ext cx="2400496" cy="955182"/>
          </a:xfrm>
          <a:prstGeom prst="wedgeEllipseCallout">
            <a:avLst>
              <a:gd name="adj1" fmla="val 112276"/>
              <a:gd name="adj2" fmla="val 11014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should I do first? Second?</a:t>
            </a:r>
          </a:p>
        </p:txBody>
      </p:sp>
      <p:sp>
        <p:nvSpPr>
          <p:cNvPr id="50" name="Oval Callout 49">
            <a:extLst>
              <a:ext uri="{FF2B5EF4-FFF2-40B4-BE49-F238E27FC236}">
                <a16:creationId xmlns:a16="http://schemas.microsoft.com/office/drawing/2014/main" id="{8E8D6A0A-98F2-EF00-7B53-7F175D04EB44}"/>
              </a:ext>
            </a:extLst>
          </p:cNvPr>
          <p:cNvSpPr/>
          <p:nvPr/>
        </p:nvSpPr>
        <p:spPr>
          <a:xfrm>
            <a:off x="6995927" y="5528678"/>
            <a:ext cx="2400496" cy="1009001"/>
          </a:xfrm>
          <a:prstGeom prst="wedgeEllipseCallout">
            <a:avLst>
              <a:gd name="adj1" fmla="val 78461"/>
              <a:gd name="adj2" fmla="val -2354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How do I make my code run/correct?</a:t>
            </a:r>
          </a:p>
        </p:txBody>
      </p:sp>
      <p:sp>
        <p:nvSpPr>
          <p:cNvPr id="51" name="Oval Callout 50">
            <a:extLst>
              <a:ext uri="{FF2B5EF4-FFF2-40B4-BE49-F238E27FC236}">
                <a16:creationId xmlns:a16="http://schemas.microsoft.com/office/drawing/2014/main" id="{32804710-976F-AC88-3DAE-7B3FE7D2E4D0}"/>
              </a:ext>
            </a:extLst>
          </p:cNvPr>
          <p:cNvSpPr/>
          <p:nvPr/>
        </p:nvSpPr>
        <p:spPr>
          <a:xfrm>
            <a:off x="6165589" y="3857369"/>
            <a:ext cx="2400496" cy="902149"/>
          </a:xfrm>
          <a:prstGeom prst="wedgeEllipseCallout">
            <a:avLst>
              <a:gd name="adj1" fmla="val 114997"/>
              <a:gd name="adj2" fmla="val -74365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functions should I use?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3CDB06D-A699-49C0-48A4-C2C86A0A70FE}"/>
              </a:ext>
            </a:extLst>
          </p:cNvPr>
          <p:cNvSpPr/>
          <p:nvPr/>
        </p:nvSpPr>
        <p:spPr>
          <a:xfrm>
            <a:off x="1875803" y="1871948"/>
            <a:ext cx="4074633" cy="155705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Algorithm</a:t>
            </a:r>
          </a:p>
          <a:p>
            <a:pPr algn="ctr"/>
            <a:r>
              <a:rPr lang="en-US" dirty="0"/>
              <a:t>Step-by-step process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68F81BB-2A3D-A0B9-44F2-2183C439A7D2}"/>
              </a:ext>
            </a:extLst>
          </p:cNvPr>
          <p:cNvSpPr/>
          <p:nvPr/>
        </p:nvSpPr>
        <p:spPr>
          <a:xfrm>
            <a:off x="1806525" y="3604608"/>
            <a:ext cx="4213188" cy="156278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Implementation</a:t>
            </a:r>
          </a:p>
          <a:p>
            <a:pPr algn="ctr"/>
            <a:r>
              <a:rPr lang="en-US" dirty="0"/>
              <a:t>Which libraries/functions 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96FAF31-37E6-B217-50D5-695C106F05C5}"/>
              </a:ext>
            </a:extLst>
          </p:cNvPr>
          <p:cNvSpPr/>
          <p:nvPr/>
        </p:nvSpPr>
        <p:spPr>
          <a:xfrm>
            <a:off x="2064953" y="5366676"/>
            <a:ext cx="4618123" cy="1491324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Correct Code</a:t>
            </a:r>
          </a:p>
          <a:p>
            <a:pPr algn="ctr"/>
            <a:r>
              <a:rPr lang="en-US" dirty="0"/>
              <a:t>Avoid bugs and verify correct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09A19-DEDC-D99F-F039-CABC515AE66D}"/>
              </a:ext>
            </a:extLst>
          </p:cNvPr>
          <p:cNvSpPr txBox="1"/>
          <p:nvPr/>
        </p:nvSpPr>
        <p:spPr>
          <a:xfrm>
            <a:off x="386486" y="2097908"/>
            <a:ext cx="12741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B0F0"/>
                </a:solidFill>
              </a:rPr>
              <a:t>Start here!</a:t>
            </a:r>
          </a:p>
        </p:txBody>
      </p:sp>
    </p:spTree>
    <p:extLst>
      <p:ext uri="{BB962C8B-B14F-4D97-AF65-F5344CB8AC3E}">
        <p14:creationId xmlns:p14="http://schemas.microsoft.com/office/powerpoint/2010/main" val="402270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5AC6-BD69-AE12-1CE4-3CA19328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should come later in the first course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0975D9-719E-6575-ED61-B86CA396FD7E}"/>
              </a:ext>
            </a:extLst>
          </p:cNvPr>
          <p:cNvSpPr txBox="1">
            <a:spLocks/>
          </p:cNvSpPr>
          <p:nvPr/>
        </p:nvSpPr>
        <p:spPr>
          <a:xfrm>
            <a:off x="3071735" y="1875872"/>
            <a:ext cx="5005388" cy="75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Outline for DSCI 210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3CB905-78B4-199B-98D5-96D65B9B74E6}"/>
              </a:ext>
            </a:extLst>
          </p:cNvPr>
          <p:cNvSpPr txBox="1">
            <a:spLocks/>
          </p:cNvSpPr>
          <p:nvPr/>
        </p:nvSpPr>
        <p:spPr>
          <a:xfrm>
            <a:off x="838200" y="2675731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/>
              <a:t>Intro to Tidy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Aggregation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Data Verbs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Intro to Visualization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Classification and CART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String Verbs and Window Functions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D1D904C-BBAC-6C32-8FD4-574E85835751}"/>
              </a:ext>
            </a:extLst>
          </p:cNvPr>
          <p:cNvSpPr txBox="1">
            <a:spLocks/>
          </p:cNvSpPr>
          <p:nvPr/>
        </p:nvSpPr>
        <p:spPr>
          <a:xfrm>
            <a:off x="6172200" y="2675731"/>
            <a:ext cx="5181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 startAt="7"/>
            </a:pPr>
            <a:r>
              <a:rPr lang="en-US"/>
              <a:t>Managing data with R/tidyverse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/>
              <a:t>Reshaping tables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/>
              <a:t>Table joins</a:t>
            </a:r>
          </a:p>
          <a:p>
            <a:pPr marL="514350" indent="-514350">
              <a:buFont typeface="+mj-lt"/>
              <a:buAutoNum type="arabicPeriod" startAt="7"/>
            </a:pPr>
            <a:r>
              <a:rPr lang="en-US"/>
              <a:t>Intro to Arules</a:t>
            </a:r>
            <a:endParaRPr lang="en-US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F30C3B6-9AD6-FF9B-10FD-EAE972819CF4}"/>
              </a:ext>
            </a:extLst>
          </p:cNvPr>
          <p:cNvSpPr txBox="1">
            <a:spLocks/>
          </p:cNvSpPr>
          <p:nvPr/>
        </p:nvSpPr>
        <p:spPr>
          <a:xfrm>
            <a:off x="685800" y="2531270"/>
            <a:ext cx="5157788" cy="4075060"/>
          </a:xfrm>
          <a:prstGeom prst="rect">
            <a:avLst/>
          </a:prstGeom>
          <a:solidFill>
            <a:srgbClr val="00B0F0">
              <a:alpha val="1451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0B0F0"/>
                </a:solidFill>
              </a:rPr>
              <a:t>Low Code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D3E1F4A-568B-D181-F1AE-C403CEB7F3A6}"/>
              </a:ext>
            </a:extLst>
          </p:cNvPr>
          <p:cNvSpPr txBox="1">
            <a:spLocks/>
          </p:cNvSpPr>
          <p:nvPr/>
        </p:nvSpPr>
        <p:spPr>
          <a:xfrm>
            <a:off x="5995988" y="2531269"/>
            <a:ext cx="5183187" cy="4075060"/>
          </a:xfrm>
          <a:prstGeom prst="rect">
            <a:avLst/>
          </a:prstGeom>
          <a:solidFill>
            <a:srgbClr val="E97132">
              <a:alpha val="15294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 algn="ctr">
              <a:buFont typeface="Arial" panose="020B0604020202020204" pitchFamily="34" charset="0"/>
              <a:buNone/>
            </a:pPr>
            <a:endParaRPr lang="en-US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solidFill>
                  <a:schemeClr val="accent2"/>
                </a:solidFill>
              </a:rPr>
              <a:t>Scripting + Low Code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19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32CE-3054-54AE-EA4C-836CC2AD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046"/>
            <a:ext cx="10515600" cy="1325563"/>
          </a:xfrm>
        </p:spPr>
        <p:txBody>
          <a:bodyPr/>
          <a:lstStyle/>
          <a:p>
            <a:r>
              <a:rPr lang="en-US" dirty="0"/>
              <a:t>Low Code </a:t>
            </a:r>
            <a:br>
              <a:rPr lang="en-US" dirty="0"/>
            </a:br>
            <a:r>
              <a:rPr lang="en-US" sz="3200" dirty="0"/>
              <a:t>Data management with Tableau Prep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EBE71-29B2-391A-BA06-F137E5878C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55383"/>
            <a:ext cx="12116075" cy="334600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A5DA80-7A41-1F5E-601B-CA7C5AD6ACF1}"/>
              </a:ext>
            </a:extLst>
          </p:cNvPr>
          <p:cNvGrpSpPr/>
          <p:nvPr/>
        </p:nvGrpSpPr>
        <p:grpSpPr>
          <a:xfrm>
            <a:off x="3944425" y="4671565"/>
            <a:ext cx="3985372" cy="1933734"/>
            <a:chOff x="5578353" y="4641585"/>
            <a:chExt cx="3985372" cy="1933734"/>
          </a:xfrm>
        </p:grpSpPr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B15C4489-27F1-33C9-54C2-3CFC893541EF}"/>
                </a:ext>
              </a:extLst>
            </p:cNvPr>
            <p:cNvSpPr/>
            <p:nvPr/>
          </p:nvSpPr>
          <p:spPr>
            <a:xfrm>
              <a:off x="5578353" y="4641585"/>
              <a:ext cx="3985372" cy="1933734"/>
            </a:xfrm>
            <a:prstGeom prst="wedgeRoundRectCallout">
              <a:avLst>
                <a:gd name="adj1" fmla="val -6863"/>
                <a:gd name="adj2" fmla="val -79022"/>
                <a:gd name="adj3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A0ACFA-55DC-8E75-B391-1921D809E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7411" y="5033204"/>
              <a:ext cx="3627255" cy="1150495"/>
            </a:xfrm>
            <a:prstGeom prst="rect">
              <a:avLst/>
            </a:prstGeom>
          </p:spPr>
        </p:pic>
      </p:grpSp>
      <p:sp>
        <p:nvSpPr>
          <p:cNvPr id="5" name="Left Arrow 4">
            <a:extLst>
              <a:ext uri="{FF2B5EF4-FFF2-40B4-BE49-F238E27FC236}">
                <a16:creationId xmlns:a16="http://schemas.microsoft.com/office/drawing/2014/main" id="{017370E9-E3F1-B114-BE83-F4E558ED2A6F}"/>
              </a:ext>
            </a:extLst>
          </p:cNvPr>
          <p:cNvSpPr/>
          <p:nvPr/>
        </p:nvSpPr>
        <p:spPr>
          <a:xfrm>
            <a:off x="8108855" y="5070935"/>
            <a:ext cx="1484026" cy="1150495"/>
          </a:xfrm>
          <a:prstGeom prst="leftArrow">
            <a:avLst/>
          </a:prstGeom>
          <a:solidFill>
            <a:srgbClr val="E971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Only Code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0E867947-B7CF-84FA-1BDF-FB1F6505FE1D}"/>
              </a:ext>
            </a:extLst>
          </p:cNvPr>
          <p:cNvSpPr/>
          <p:nvPr/>
        </p:nvSpPr>
        <p:spPr>
          <a:xfrm>
            <a:off x="8481192" y="82693"/>
            <a:ext cx="1173423" cy="98488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Management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7878B396-CE90-C9D7-1880-A09289FE0A00}"/>
              </a:ext>
            </a:extLst>
          </p:cNvPr>
          <p:cNvSpPr/>
          <p:nvPr/>
        </p:nvSpPr>
        <p:spPr>
          <a:xfrm>
            <a:off x="9711412" y="82693"/>
            <a:ext cx="1130701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Summaries</a:t>
            </a:r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Visualization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F3DA9246-17A4-8339-73B0-91676F736AC7}"/>
              </a:ext>
            </a:extLst>
          </p:cNvPr>
          <p:cNvSpPr/>
          <p:nvPr/>
        </p:nvSpPr>
        <p:spPr>
          <a:xfrm>
            <a:off x="10898910" y="82693"/>
            <a:ext cx="1173423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Learning</a:t>
            </a:r>
          </a:p>
        </p:txBody>
      </p:sp>
    </p:spTree>
    <p:extLst>
      <p:ext uri="{BB962C8B-B14F-4D97-AF65-F5344CB8AC3E}">
        <p14:creationId xmlns:p14="http://schemas.microsoft.com/office/powerpoint/2010/main" val="307425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EA05-D5FD-B3C0-7CFF-42BC7C25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A79A94-7857-96A4-F751-A43EA38ED03E}"/>
              </a:ext>
            </a:extLst>
          </p:cNvPr>
          <p:cNvSpPr txBox="1"/>
          <p:nvPr/>
        </p:nvSpPr>
        <p:spPr>
          <a:xfrm>
            <a:off x="2465113" y="2389643"/>
            <a:ext cx="709423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+mj-lt"/>
              </a:rPr>
              <a:t>Translate to Code</a:t>
            </a:r>
          </a:p>
          <a:p>
            <a:pPr algn="ctr"/>
            <a:r>
              <a:rPr lang="en-US" sz="3200" dirty="0">
                <a:latin typeface="+mj-lt"/>
              </a:rPr>
              <a:t>Implementing code from low code solutions</a:t>
            </a:r>
          </a:p>
        </p:txBody>
      </p:sp>
    </p:spTree>
    <p:extLst>
      <p:ext uri="{BB962C8B-B14F-4D97-AF65-F5344CB8AC3E}">
        <p14:creationId xmlns:p14="http://schemas.microsoft.com/office/powerpoint/2010/main" val="297184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E75549-70F9-62FD-0593-06255F6D06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0405" y="2994928"/>
            <a:ext cx="4431928" cy="3694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817A8D-0306-A679-8199-492C704E1E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983" y="1436166"/>
            <a:ext cx="7451361" cy="2057788"/>
          </a:xfrm>
          <a:prstGeom prst="rect">
            <a:avLst/>
          </a:prstGeom>
        </p:spPr>
      </p:pic>
      <p:sp>
        <p:nvSpPr>
          <p:cNvPr id="5" name="Bent Arrow 4">
            <a:extLst>
              <a:ext uri="{FF2B5EF4-FFF2-40B4-BE49-F238E27FC236}">
                <a16:creationId xmlns:a16="http://schemas.microsoft.com/office/drawing/2014/main" id="{43E31D0E-28A0-DB10-153E-1BD1AE987C9A}"/>
              </a:ext>
            </a:extLst>
          </p:cNvPr>
          <p:cNvSpPr/>
          <p:nvPr/>
        </p:nvSpPr>
        <p:spPr>
          <a:xfrm flipV="1">
            <a:off x="5771214" y="3732862"/>
            <a:ext cx="1933731" cy="1109272"/>
          </a:xfrm>
          <a:prstGeom prst="ben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1A305A-5B03-F862-1570-02626C47E72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Translate to Code </a:t>
            </a:r>
            <a:br>
              <a:rPr lang="en-US" dirty="0"/>
            </a:br>
            <a:r>
              <a:rPr lang="en-US" sz="3200" dirty="0"/>
              <a:t>From Tableau Prep to dplyr</a:t>
            </a:r>
          </a:p>
        </p:txBody>
      </p:sp>
      <p:sp>
        <p:nvSpPr>
          <p:cNvPr id="7" name="Can 6">
            <a:extLst>
              <a:ext uri="{FF2B5EF4-FFF2-40B4-BE49-F238E27FC236}">
                <a16:creationId xmlns:a16="http://schemas.microsoft.com/office/drawing/2014/main" id="{07AB36B5-29F7-4EFC-F04C-6480D537E13D}"/>
              </a:ext>
            </a:extLst>
          </p:cNvPr>
          <p:cNvSpPr/>
          <p:nvPr/>
        </p:nvSpPr>
        <p:spPr>
          <a:xfrm>
            <a:off x="8481192" y="82693"/>
            <a:ext cx="1173423" cy="98488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Management</a:t>
            </a:r>
          </a:p>
        </p:txBody>
      </p:sp>
      <p:sp>
        <p:nvSpPr>
          <p:cNvPr id="8" name="Can 7">
            <a:extLst>
              <a:ext uri="{FF2B5EF4-FFF2-40B4-BE49-F238E27FC236}">
                <a16:creationId xmlns:a16="http://schemas.microsoft.com/office/drawing/2014/main" id="{F938FC48-4AC0-1000-2579-3EB2BA490CF4}"/>
              </a:ext>
            </a:extLst>
          </p:cNvPr>
          <p:cNvSpPr/>
          <p:nvPr/>
        </p:nvSpPr>
        <p:spPr>
          <a:xfrm>
            <a:off x="9711412" y="82693"/>
            <a:ext cx="1130701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Summaries</a:t>
            </a:r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Visualization</a:t>
            </a:r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EBB92C5-417A-CEFC-3F10-DEE6A70EC62A}"/>
              </a:ext>
            </a:extLst>
          </p:cNvPr>
          <p:cNvSpPr/>
          <p:nvPr/>
        </p:nvSpPr>
        <p:spPr>
          <a:xfrm>
            <a:off x="10898910" y="82693"/>
            <a:ext cx="1173423" cy="984881"/>
          </a:xfrm>
          <a:prstGeom prst="can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Statistical Learning</a:t>
            </a:r>
          </a:p>
        </p:txBody>
      </p:sp>
    </p:spTree>
    <p:extLst>
      <p:ext uri="{BB962C8B-B14F-4D97-AF65-F5344CB8AC3E}">
        <p14:creationId xmlns:p14="http://schemas.microsoft.com/office/powerpoint/2010/main" val="3928651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9FAA54372EBF4B9C457D0B6A93D80C" ma:contentTypeVersion="9" ma:contentTypeDescription="Create a new document." ma:contentTypeScope="" ma:versionID="61f33164daef58e5d4660cee8fc3d9c8">
  <xsd:schema xmlns:xsd="http://www.w3.org/2001/XMLSchema" xmlns:xs="http://www.w3.org/2001/XMLSchema" xmlns:p="http://schemas.microsoft.com/office/2006/metadata/properties" xmlns:ns2="d9283280-a84d-4019-aeb7-eaef619ff7fe" targetNamespace="http://schemas.microsoft.com/office/2006/metadata/properties" ma:root="true" ma:fieldsID="8e1013b926c7bdb8c76b2040103e44b9" ns2:_="">
    <xsd:import namespace="d9283280-a84d-4019-aeb7-eaef619ff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283280-a84d-4019-aeb7-eaef619ff7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206B36-37D5-47CA-8C50-D2F10B5FAC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283280-a84d-4019-aeb7-eaef619ff7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AAC2B6-BBE0-4801-BE04-EDA7C87D65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AC9350-56D0-484F-BBD0-480C035824F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8730</TotalTime>
  <Words>508</Words>
  <Application>Microsoft Macintosh PowerPoint</Application>
  <PresentationFormat>Widescreen</PresentationFormat>
  <Paragraphs>230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Technology Agnostic Data Verbs</vt:lpstr>
      <vt:lpstr>Exercise 1 Purchasing Snowshoes</vt:lpstr>
      <vt:lpstr>PowerPoint Presentation</vt:lpstr>
      <vt:lpstr>Learning to program is hard!</vt:lpstr>
      <vt:lpstr>Doug is struggling!</vt:lpstr>
      <vt:lpstr>Doug is struggling!</vt:lpstr>
      <vt:lpstr>Doug is struggling!</vt:lpstr>
      <vt:lpstr>PowerPoint Presentation</vt:lpstr>
      <vt:lpstr>The algorithm is most important Let’s make sure Doug is proficient here first!</vt:lpstr>
      <vt:lpstr>Coding should come later in the first course</vt:lpstr>
      <vt:lpstr>Low Code  Data management with Tableau Prep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data visualization course</dc:title>
  <dc:creator>Bergen, Silas R</dc:creator>
  <cp:lastModifiedBy>Iverson, Todd</cp:lastModifiedBy>
  <cp:revision>135</cp:revision>
  <dcterms:created xsi:type="dcterms:W3CDTF">2019-05-08T20:40:49Z</dcterms:created>
  <dcterms:modified xsi:type="dcterms:W3CDTF">2026-07-11T20:59:22Z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0x010100799FAA54372EBF4B9C457D0B6A93D80C</vt:lpwstr>
  </property>
</Properties>
</file>