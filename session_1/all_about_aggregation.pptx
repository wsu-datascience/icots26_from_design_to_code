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7" r:id="rId5"/>
    <p:sldId id="359" r:id="rId6"/>
    <p:sldId id="259" r:id="rId7"/>
    <p:sldId id="261" r:id="rId8"/>
    <p:sldId id="360" r:id="rId9"/>
    <p:sldId id="363" r:id="rId10"/>
    <p:sldId id="362" r:id="rId11"/>
    <p:sldId id="265" r:id="rId12"/>
    <p:sldId id="266" r:id="rId13"/>
    <p:sldId id="268" r:id="rId14"/>
    <p:sldId id="271" r:id="rId15"/>
    <p:sldId id="371" r:id="rId16"/>
    <p:sldId id="370" r:id="rId17"/>
    <p:sldId id="364" r:id="rId18"/>
    <p:sldId id="365" r:id="rId19"/>
    <p:sldId id="366" r:id="rId20"/>
    <p:sldId id="372" r:id="rId21"/>
    <p:sldId id="368" r:id="rId22"/>
    <p:sldId id="369" r:id="rId23"/>
    <p:sldId id="367" r:id="rId24"/>
    <p:sldId id="37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7" d="100"/>
          <a:sy n="77" d="100"/>
        </p:scale>
        <p:origin x="20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50049-391F-4ED3-879D-0A487296A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CCF72-A991-4A04-A969-EE6345FEF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84790-EA30-442F-9343-53130883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F67C7-3EA6-42EF-AB11-AEECF936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F82F5-CD36-4B25-8777-E0F23134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4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EF73-E779-4F7D-AE09-D2B650816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987D5-37C6-4F12-AB82-8C3E5386E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DA89A-2D01-4737-8F64-7FD5871D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9A513-517B-4ED1-9AEF-0357E80F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D59CA-2A39-49CB-908D-C184A523B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1DE54-2043-45A7-B103-393C872A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6A463-BB41-4FF8-A069-A64B594C0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1CD18-72AA-4355-81FC-24D6CC8E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B18AE-F6E7-4E5F-9363-C702E719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72315-1F85-479D-BB68-9DAABA2A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84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41D50-CB43-40EB-B2F8-0F353FD64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AF91A-7916-49C4-9334-9D7011C2E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5536-5731-4D02-AA7D-ABC511DBD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C33A5-A3BB-478F-8BA3-40083945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AEA67-8813-4A26-BD91-12D63662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EAA35-3D5D-4A0F-B715-FAD0C7DB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92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0110-B1CA-4202-9EA1-2CD67A737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CAF9-85E9-4D85-91B3-FCE671179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299C6-476F-4230-BB4F-C440B50A2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31521F-00BA-44FC-A1F5-B11F3E0F6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70AD9-9580-4CEF-A9D0-9C6655B68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58012-0687-45C2-BA62-25F207D0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9E936-F162-4ECA-950A-5BB7183BD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C5D2C-F886-4695-AEFA-4FFB9999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1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83844-CCA4-4F0E-B1F0-A93D360D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B8CE1-B02F-4463-8CE2-B60A0FCE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A8985-2946-4B65-8B40-A71CCEC9F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DE34A-54FA-450F-8EFC-3A45BAF3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52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E7E9BE-A838-4CF4-99C2-94A183B4B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7A111D-BF7F-49EB-91C0-89D136E41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D88EE-3705-4854-9E4A-CBFE1D2CE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7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46E6-88DD-4EBE-AF46-47950F3EB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56B2A-031F-47B8-AA14-1BF35F619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E235D-06E0-4573-9192-923A7CB60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CD924-9732-46AC-B5AF-30BBC115E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ACE16-2D50-417F-9825-BEA64828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D34B-752B-460C-927B-5DBDEC2E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6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B0C3-015F-4492-B410-7B65A3EE5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A94733-5F34-4C57-82EC-F456E96CC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588EC-4EEF-4952-A0C4-C79FC8279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BD6FD-DC52-428A-A6DB-B22D569EF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D947B-0504-4409-9B93-9BD93A0CA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42420-91FA-4839-8A5D-C23C1113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3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764F-0EB7-4ACF-8675-1699CE7A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53176-AEB1-4492-8582-CA8CDF7E6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DFD22-02BF-4CDD-996B-180E4AFE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55CD9-C509-4CBB-8085-9D465ECC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434EE-ACFD-46FC-8973-3F202837C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11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1B3B8C-26C4-4450-8F25-F2FDA9138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AEFB4-9536-422B-8377-6213AE644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A11F7-B87D-470A-B76D-8774870D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2FC82-ABE6-4E67-A3C4-44C62FDE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12B97-636C-48D2-A9B1-576C86E1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6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4E19AE-3398-41BD-A367-07A07DB15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1CCD7-D5F9-4F76-82F9-9A5E3A71F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3EDFF-F91B-4651-9153-2E1C5BB2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69A2A-5A31-4076-A199-AAEB35D084F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93CCE-E8CB-4DFF-948F-1B013B2A5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27EFB-CC83-4FCE-A19A-21ADD815A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385AA-1C32-4ECE-8A08-2BA884726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5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A38C5-75F9-4026-86DF-BE24C276E4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All About Aggregation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8A418-781B-4E8C-AEDA-6C56849DC6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Grouping, summarizing, pivoting, and windowing</a:t>
            </a:r>
          </a:p>
        </p:txBody>
      </p:sp>
    </p:spTree>
    <p:extLst>
      <p:ext uri="{BB962C8B-B14F-4D97-AF65-F5344CB8AC3E}">
        <p14:creationId xmlns:p14="http://schemas.microsoft.com/office/powerpoint/2010/main" val="2354045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00EF-0D7E-44E6-BC91-C4CE9F90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aggregation?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D266-BEB8-4B88-8861-772DF4D63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6878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Latin </a:t>
            </a:r>
            <a:r>
              <a:rPr lang="en-US" i="1" dirty="0"/>
              <a:t>aggregare – “</a:t>
            </a:r>
            <a:r>
              <a:rPr lang="en-US" dirty="0"/>
              <a:t>to flock together”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data terms, to </a:t>
            </a:r>
            <a:r>
              <a:rPr lang="en-US" i="1" dirty="0"/>
              <a:t>aggregate </a:t>
            </a:r>
            <a:r>
              <a:rPr lang="en-US" dirty="0"/>
              <a:t>is to create </a:t>
            </a:r>
            <a:r>
              <a:rPr lang="en-US" i="1" dirty="0"/>
              <a:t>one number </a:t>
            </a:r>
            <a:r>
              <a:rPr lang="en-US" dirty="0"/>
              <a:t>from </a:t>
            </a:r>
            <a:r>
              <a:rPr lang="en-US" i="1" dirty="0"/>
              <a:t>many numbers</a:t>
            </a:r>
          </a:p>
          <a:p>
            <a:endParaRPr lang="en-US" i="1" dirty="0"/>
          </a:p>
          <a:p>
            <a:r>
              <a:rPr lang="en-US" dirty="0"/>
              <a:t>The </a:t>
            </a:r>
            <a:r>
              <a:rPr lang="en-US" i="1" dirty="0"/>
              <a:t>one number</a:t>
            </a:r>
            <a:r>
              <a:rPr lang="en-US" dirty="0"/>
              <a:t> is a </a:t>
            </a:r>
            <a:r>
              <a:rPr lang="en-US" i="1" dirty="0"/>
              <a:t>summary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Count</a:t>
            </a:r>
          </a:p>
          <a:p>
            <a:pPr lvl="1"/>
            <a:r>
              <a:rPr lang="en-US" dirty="0"/>
              <a:t>Mean</a:t>
            </a:r>
          </a:p>
          <a:p>
            <a:pPr lvl="1"/>
            <a:r>
              <a:rPr lang="en-US" dirty="0"/>
              <a:t>Median</a:t>
            </a:r>
          </a:p>
          <a:p>
            <a:pPr lvl="1"/>
            <a:r>
              <a:rPr lang="en-US" dirty="0"/>
              <a:t>Min</a:t>
            </a:r>
          </a:p>
          <a:p>
            <a:pPr lvl="1"/>
            <a:r>
              <a:rPr lang="en-US" dirty="0"/>
              <a:t>Max</a:t>
            </a:r>
          </a:p>
          <a:p>
            <a:pPr lvl="1"/>
            <a:r>
              <a:rPr lang="en-US" dirty="0"/>
              <a:t>Standard deviation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09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00EF-0D7E-44E6-BC91-C4CE9F90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D266-BEB8-4B88-8861-772DF4D63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68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i="1" dirty="0"/>
              <a:t>Simple aggregation</a:t>
            </a:r>
            <a:r>
              <a:rPr lang="en-US" dirty="0"/>
              <a:t> requires at a minimum 2 ingredients:</a:t>
            </a:r>
          </a:p>
          <a:p>
            <a:pPr lvl="1"/>
            <a:r>
              <a:rPr lang="en-US" dirty="0"/>
              <a:t>A data column</a:t>
            </a:r>
          </a:p>
          <a:p>
            <a:pPr lvl="1"/>
            <a:r>
              <a:rPr lang="en-US" dirty="0"/>
              <a:t>A summary method</a:t>
            </a:r>
          </a:p>
        </p:txBody>
      </p:sp>
    </p:spTree>
    <p:extLst>
      <p:ext uri="{BB962C8B-B14F-4D97-AF65-F5344CB8AC3E}">
        <p14:creationId xmlns:p14="http://schemas.microsoft.com/office/powerpoint/2010/main" val="2614599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9EEF46-E0AF-4F99-B344-3B12882A91EF}"/>
              </a:ext>
            </a:extLst>
          </p:cNvPr>
          <p:cNvCxnSpPr>
            <a:cxnSpLocks/>
          </p:cNvCxnSpPr>
          <p:nvPr/>
        </p:nvCxnSpPr>
        <p:spPr>
          <a:xfrm>
            <a:off x="4929809" y="3790121"/>
            <a:ext cx="1870961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364009-CB66-426F-B092-6BC00E83D119}"/>
              </a:ext>
            </a:extLst>
          </p:cNvPr>
          <p:cNvSpPr txBox="1"/>
          <p:nvPr/>
        </p:nvSpPr>
        <p:spPr>
          <a:xfrm>
            <a:off x="4929809" y="3183835"/>
            <a:ext cx="1870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method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2552E-D287-4453-8C98-08B64B74BBE4}"/>
              </a:ext>
            </a:extLst>
          </p:cNvPr>
          <p:cNvSpPr/>
          <p:nvPr/>
        </p:nvSpPr>
        <p:spPr>
          <a:xfrm>
            <a:off x="3129917" y="2204901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556E3-4848-496A-9CC1-3E29AA068582}"/>
              </a:ext>
            </a:extLst>
          </p:cNvPr>
          <p:cNvSpPr/>
          <p:nvPr/>
        </p:nvSpPr>
        <p:spPr>
          <a:xfrm>
            <a:off x="3129917" y="1694693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column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75806E-94CA-499F-BFE8-CF622A7C50DD}"/>
              </a:ext>
            </a:extLst>
          </p:cNvPr>
          <p:cNvSpPr/>
          <p:nvPr/>
        </p:nvSpPr>
        <p:spPr>
          <a:xfrm>
            <a:off x="7218212" y="3790121"/>
            <a:ext cx="1351721" cy="3544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number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68484C-B768-4904-8325-891A3EE409F5}"/>
              </a:ext>
            </a:extLst>
          </p:cNvPr>
          <p:cNvSpPr/>
          <p:nvPr/>
        </p:nvSpPr>
        <p:spPr>
          <a:xfrm>
            <a:off x="7218212" y="3298206"/>
            <a:ext cx="1351721" cy="4919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Aggregation</a:t>
            </a:r>
          </a:p>
          <a:p>
            <a:pPr algn="ctr"/>
            <a:r>
              <a:rPr lang="en-US" dirty="0"/>
              <a:t>Outcome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2590250-8955-46FA-BE8D-23722FB239B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Simple aggregation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68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9BFA81-6C45-4632-845D-5AB95BD7A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932" y="2024037"/>
            <a:ext cx="4286500" cy="41529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EA00EF-0D7E-44E6-BC91-C4CE9F90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is simple aggregation!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47620C-C25F-4E7C-94B5-7DFECF62ADFB}"/>
              </a:ext>
            </a:extLst>
          </p:cNvPr>
          <p:cNvSpPr/>
          <p:nvPr/>
        </p:nvSpPr>
        <p:spPr>
          <a:xfrm>
            <a:off x="5062535" y="2488266"/>
            <a:ext cx="806897" cy="364500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6269B1-D251-4D0E-91F0-DD9F6FC278A8}"/>
              </a:ext>
            </a:extLst>
          </p:cNvPr>
          <p:cNvCxnSpPr>
            <a:cxnSpLocks/>
          </p:cNvCxnSpPr>
          <p:nvPr/>
        </p:nvCxnSpPr>
        <p:spPr>
          <a:xfrm>
            <a:off x="6102768" y="4050793"/>
            <a:ext cx="1034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950FFFB-48F9-4FAB-8132-38391E884738}"/>
              </a:ext>
            </a:extLst>
          </p:cNvPr>
          <p:cNvSpPr txBox="1"/>
          <p:nvPr/>
        </p:nvSpPr>
        <p:spPr>
          <a:xfrm>
            <a:off x="7195598" y="384910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F57C34-C441-4461-A13C-86F972E4E580}"/>
              </a:ext>
            </a:extLst>
          </p:cNvPr>
          <p:cNvSpPr txBox="1"/>
          <p:nvPr/>
        </p:nvSpPr>
        <p:spPr>
          <a:xfrm>
            <a:off x="5939826" y="3416107"/>
            <a:ext cx="268678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NUMBER OF OBS</a:t>
            </a:r>
          </a:p>
        </p:txBody>
      </p:sp>
    </p:spTree>
    <p:extLst>
      <p:ext uri="{BB962C8B-B14F-4D97-AF65-F5344CB8AC3E}">
        <p14:creationId xmlns:p14="http://schemas.microsoft.com/office/powerpoint/2010/main" val="956548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00EF-0D7E-44E6-BC91-C4CE9F90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Averaging is simple aggregation!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D266-BEB8-4B88-8861-772DF4D63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68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9BFA81-6C45-4632-845D-5AB95BD7A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22" y="2024037"/>
            <a:ext cx="4286500" cy="41529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D24136-E6C5-42F0-8372-8A50AE14BFC6}"/>
              </a:ext>
            </a:extLst>
          </p:cNvPr>
          <p:cNvSpPr/>
          <p:nvPr/>
        </p:nvSpPr>
        <p:spPr>
          <a:xfrm>
            <a:off x="4473313" y="2517913"/>
            <a:ext cx="860110" cy="36590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21C937-2C8C-4B7A-859A-F444A783CB60}"/>
              </a:ext>
            </a:extLst>
          </p:cNvPr>
          <p:cNvCxnSpPr/>
          <p:nvPr/>
        </p:nvCxnSpPr>
        <p:spPr>
          <a:xfrm>
            <a:off x="5645149" y="4067239"/>
            <a:ext cx="9017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524FEF-592F-43E1-8804-3CD5DBF077D7}"/>
              </a:ext>
            </a:extLst>
          </p:cNvPr>
          <p:cNvSpPr txBox="1"/>
          <p:nvPr/>
        </p:nvSpPr>
        <p:spPr>
          <a:xfrm>
            <a:off x="6706103" y="3836406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8.34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F97BF7-0487-43BF-BAA9-C58F6BB82619}"/>
              </a:ext>
            </a:extLst>
          </p:cNvPr>
          <p:cNvSpPr txBox="1"/>
          <p:nvPr/>
        </p:nvSpPr>
        <p:spPr>
          <a:xfrm>
            <a:off x="5697396" y="3605573"/>
            <a:ext cx="714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AVG</a:t>
            </a:r>
          </a:p>
        </p:txBody>
      </p:sp>
    </p:spTree>
    <p:extLst>
      <p:ext uri="{BB962C8B-B14F-4D97-AF65-F5344CB8AC3E}">
        <p14:creationId xmlns:p14="http://schemas.microsoft.com/office/powerpoint/2010/main" val="3802383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9BFA81-6C45-4632-845D-5AB95BD7A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932" y="2024037"/>
            <a:ext cx="4286500" cy="41529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EA00EF-0D7E-44E6-BC91-C4CE9F90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as a simple aggregation!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D266-BEB8-4B88-8861-772DF4D63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68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47620C-C25F-4E7C-94B5-7DFECF62ADFB}"/>
              </a:ext>
            </a:extLst>
          </p:cNvPr>
          <p:cNvSpPr/>
          <p:nvPr/>
        </p:nvSpPr>
        <p:spPr>
          <a:xfrm>
            <a:off x="3439527" y="2491409"/>
            <a:ext cx="806897" cy="364500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6269B1-D251-4D0E-91F0-DD9F6FC278A8}"/>
              </a:ext>
            </a:extLst>
          </p:cNvPr>
          <p:cNvCxnSpPr>
            <a:cxnSpLocks/>
          </p:cNvCxnSpPr>
          <p:nvPr/>
        </p:nvCxnSpPr>
        <p:spPr>
          <a:xfrm flipV="1">
            <a:off x="4546600" y="4079938"/>
            <a:ext cx="2346740" cy="20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950FFFB-48F9-4FAB-8132-38391E884738}"/>
              </a:ext>
            </a:extLst>
          </p:cNvPr>
          <p:cNvSpPr txBox="1"/>
          <p:nvPr/>
        </p:nvSpPr>
        <p:spPr>
          <a:xfrm>
            <a:off x="6932672" y="3849106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8094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F57C34-C441-4461-A13C-86F972E4E580}"/>
              </a:ext>
            </a:extLst>
          </p:cNvPr>
          <p:cNvSpPr txBox="1"/>
          <p:nvPr/>
        </p:nvSpPr>
        <p:spPr>
          <a:xfrm>
            <a:off x="5830917" y="3585795"/>
            <a:ext cx="883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1287625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7B21-9DBB-D457-E53F-172EFB7CA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F244BA-B9F6-28AC-A153-5BC1755F5CB7}"/>
              </a:ext>
            </a:extLst>
          </p:cNvPr>
          <p:cNvCxnSpPr>
            <a:cxnSpLocks/>
          </p:cNvCxnSpPr>
          <p:nvPr/>
        </p:nvCxnSpPr>
        <p:spPr>
          <a:xfrm>
            <a:off x="4929809" y="3790121"/>
            <a:ext cx="1870961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85E630C-D9EE-12E7-38A7-368A7C1B7007}"/>
              </a:ext>
            </a:extLst>
          </p:cNvPr>
          <p:cNvSpPr txBox="1"/>
          <p:nvPr/>
        </p:nvSpPr>
        <p:spPr>
          <a:xfrm>
            <a:off x="4929809" y="3183835"/>
            <a:ext cx="1870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method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2256-3266-C175-445B-7749B635143E}"/>
              </a:ext>
            </a:extLst>
          </p:cNvPr>
          <p:cNvSpPr/>
          <p:nvPr/>
        </p:nvSpPr>
        <p:spPr>
          <a:xfrm>
            <a:off x="3129917" y="2204901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8B75C9-E3FE-4729-77C0-86CF19157ED6}"/>
              </a:ext>
            </a:extLst>
          </p:cNvPr>
          <p:cNvSpPr/>
          <p:nvPr/>
        </p:nvSpPr>
        <p:spPr>
          <a:xfrm>
            <a:off x="3129917" y="1694693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column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D0D2608-1BD7-02EC-4AC3-CADD70CB046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Simple Window Function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FA0EC6-F994-7A04-2A0E-E5664AB8C66B}"/>
              </a:ext>
            </a:extLst>
          </p:cNvPr>
          <p:cNvSpPr/>
          <p:nvPr/>
        </p:nvSpPr>
        <p:spPr>
          <a:xfrm>
            <a:off x="7248940" y="2204901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Number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4DE6A2-E59D-9CC1-68EB-CAD7A7FD986C}"/>
              </a:ext>
            </a:extLst>
          </p:cNvPr>
          <p:cNvSpPr/>
          <p:nvPr/>
        </p:nvSpPr>
        <p:spPr>
          <a:xfrm>
            <a:off x="7248940" y="1694693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Window Outcome</a:t>
            </a:r>
          </a:p>
        </p:txBody>
      </p:sp>
    </p:spTree>
    <p:extLst>
      <p:ext uri="{BB962C8B-B14F-4D97-AF65-F5344CB8AC3E}">
        <p14:creationId xmlns:p14="http://schemas.microsoft.com/office/powerpoint/2010/main" val="3266953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1BA91-5832-F35D-5B0D-BEDB934CF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386C21-7E63-8B4E-C3D7-C4A0F9838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09" y="1940585"/>
            <a:ext cx="4463473" cy="42694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6CC833-2652-4669-3114-416D77874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Averaging with a window function!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A4AA-7C62-8FA4-6976-D999C1328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68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336529-5F6B-5C22-2377-ED5E03F4E597}"/>
              </a:ext>
            </a:extLst>
          </p:cNvPr>
          <p:cNvSpPr/>
          <p:nvPr/>
        </p:nvSpPr>
        <p:spPr>
          <a:xfrm>
            <a:off x="4473313" y="2551163"/>
            <a:ext cx="860110" cy="36590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1C093C-745A-3A95-EB2A-F08AB22378D5}"/>
              </a:ext>
            </a:extLst>
          </p:cNvPr>
          <p:cNvCxnSpPr/>
          <p:nvPr/>
        </p:nvCxnSpPr>
        <p:spPr>
          <a:xfrm>
            <a:off x="5645149" y="4067239"/>
            <a:ext cx="9017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0926244-FFC3-5A96-D377-3B8C5ECD6B5A}"/>
              </a:ext>
            </a:extLst>
          </p:cNvPr>
          <p:cNvSpPr txBox="1"/>
          <p:nvPr/>
        </p:nvSpPr>
        <p:spPr>
          <a:xfrm>
            <a:off x="5697396" y="3605573"/>
            <a:ext cx="714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AVG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8C9F68-A709-E5F3-B728-14AC3DFE87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3" r="50120"/>
          <a:stretch>
            <a:fillRect/>
          </a:stretch>
        </p:blipFill>
        <p:spPr>
          <a:xfrm>
            <a:off x="6858576" y="2057071"/>
            <a:ext cx="1022685" cy="415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16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9FE5-818B-398F-1426-8BC7259B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FC94DF-2ECE-F1A9-0BFB-CE9A34D58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519" y="1970997"/>
            <a:ext cx="4292911" cy="4152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FAA6F5-8455-37A2-ACDA-373CAE62B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with a window function!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EDFD2-3A62-10F1-F664-BCA0ECB9BA2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25625"/>
            <a:ext cx="103076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AC21D-CE31-69E4-733C-D19E0FDE671C}"/>
              </a:ext>
            </a:extLst>
          </p:cNvPr>
          <p:cNvSpPr/>
          <p:nvPr/>
        </p:nvSpPr>
        <p:spPr>
          <a:xfrm>
            <a:off x="3439527" y="2491409"/>
            <a:ext cx="806897" cy="364500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3DC5B5-0C0E-D10D-92C9-3F38B52FAE56}"/>
              </a:ext>
            </a:extLst>
          </p:cNvPr>
          <p:cNvCxnSpPr>
            <a:cxnSpLocks/>
          </p:cNvCxnSpPr>
          <p:nvPr/>
        </p:nvCxnSpPr>
        <p:spPr>
          <a:xfrm flipV="1">
            <a:off x="4546600" y="4079938"/>
            <a:ext cx="2346740" cy="20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19A520-7AF3-7F12-445D-D4A11DF15413}"/>
              </a:ext>
            </a:extLst>
          </p:cNvPr>
          <p:cNvSpPr txBox="1"/>
          <p:nvPr/>
        </p:nvSpPr>
        <p:spPr>
          <a:xfrm>
            <a:off x="6029431" y="3618273"/>
            <a:ext cx="883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511DB-909A-FBF4-CDFF-883CC50FD1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01"/>
          <a:stretch>
            <a:fillRect/>
          </a:stretch>
        </p:blipFill>
        <p:spPr>
          <a:xfrm>
            <a:off x="7193516" y="2037778"/>
            <a:ext cx="1109289" cy="419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71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4CA6-EC2B-4484-B89F-F8713F1CA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aggregation</a:t>
            </a:r>
          </a:p>
        </p:txBody>
      </p:sp>
    </p:spTree>
    <p:extLst>
      <p:ext uri="{BB962C8B-B14F-4D97-AF65-F5344CB8AC3E}">
        <p14:creationId xmlns:p14="http://schemas.microsoft.com/office/powerpoint/2010/main" val="846461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AE0F-5973-44D4-A9ED-719C9568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2EF21-E216-4340-A204-108281D85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Often, we want to aggregate </a:t>
            </a:r>
            <a:r>
              <a:rPr lang="en-US" b="1" dirty="0"/>
              <a:t>one column</a:t>
            </a:r>
            <a:r>
              <a:rPr lang="en-US" dirty="0"/>
              <a:t> according to groupings defined by </a:t>
            </a:r>
            <a:r>
              <a:rPr lang="en-US" b="1" dirty="0"/>
              <a:t>a second column</a:t>
            </a:r>
          </a:p>
          <a:p>
            <a:endParaRPr lang="en-US" b="1" dirty="0"/>
          </a:p>
          <a:p>
            <a:r>
              <a:rPr lang="en-US" dirty="0"/>
              <a:t>Requires min of 3 ingredients</a:t>
            </a:r>
          </a:p>
          <a:p>
            <a:pPr lvl="1"/>
            <a:r>
              <a:rPr lang="en-US" dirty="0"/>
              <a:t>A grouping column</a:t>
            </a:r>
          </a:p>
          <a:p>
            <a:pPr lvl="1"/>
            <a:r>
              <a:rPr lang="en-US" dirty="0"/>
              <a:t>A data column </a:t>
            </a:r>
          </a:p>
          <a:p>
            <a:pPr lvl="1"/>
            <a:r>
              <a:rPr lang="en-US" dirty="0"/>
              <a:t>A summary method</a:t>
            </a:r>
          </a:p>
        </p:txBody>
      </p:sp>
    </p:spTree>
    <p:extLst>
      <p:ext uri="{BB962C8B-B14F-4D97-AF65-F5344CB8AC3E}">
        <p14:creationId xmlns:p14="http://schemas.microsoft.com/office/powerpoint/2010/main" val="2064298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E48880-5DBB-4A7E-924A-2EBBAA9EC8F2}"/>
              </a:ext>
            </a:extLst>
          </p:cNvPr>
          <p:cNvSpPr/>
          <p:nvPr/>
        </p:nvSpPr>
        <p:spPr>
          <a:xfrm>
            <a:off x="3210399" y="2632965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48A271-79EA-41D5-BACA-BCFC23906356}"/>
              </a:ext>
            </a:extLst>
          </p:cNvPr>
          <p:cNvSpPr/>
          <p:nvPr/>
        </p:nvSpPr>
        <p:spPr>
          <a:xfrm>
            <a:off x="3210399" y="2122757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column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64DA36-132B-4C4B-924B-6DA97A8B94C4}"/>
              </a:ext>
            </a:extLst>
          </p:cNvPr>
          <p:cNvSpPr/>
          <p:nvPr/>
        </p:nvSpPr>
        <p:spPr>
          <a:xfrm>
            <a:off x="8650415" y="4218185"/>
            <a:ext cx="1351721" cy="7802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Number 2</a:t>
            </a:r>
          </a:p>
          <a:p>
            <a:pPr algn="ctr"/>
            <a:r>
              <a:rPr lang="en-US" dirty="0"/>
              <a:t>Number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A280C3-6320-479B-A10A-86B1BA684784}"/>
              </a:ext>
            </a:extLst>
          </p:cNvPr>
          <p:cNvSpPr/>
          <p:nvPr/>
        </p:nvSpPr>
        <p:spPr>
          <a:xfrm>
            <a:off x="8650415" y="3726270"/>
            <a:ext cx="1351721" cy="4919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Aggregation</a:t>
            </a:r>
          </a:p>
          <a:p>
            <a:pPr algn="ctr"/>
            <a:r>
              <a:rPr lang="en-US" dirty="0"/>
              <a:t>Outcome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9EEF46-E0AF-4F99-B344-3B12882A91EF}"/>
              </a:ext>
            </a:extLst>
          </p:cNvPr>
          <p:cNvCxnSpPr>
            <a:cxnSpLocks/>
          </p:cNvCxnSpPr>
          <p:nvPr/>
        </p:nvCxnSpPr>
        <p:spPr>
          <a:xfrm>
            <a:off x="4946434" y="4455139"/>
            <a:ext cx="1870961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364009-CB66-426F-B092-6BC00E83D119}"/>
              </a:ext>
            </a:extLst>
          </p:cNvPr>
          <p:cNvSpPr txBox="1"/>
          <p:nvPr/>
        </p:nvSpPr>
        <p:spPr>
          <a:xfrm>
            <a:off x="4946434" y="3848853"/>
            <a:ext cx="1870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method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83FA44-0BE2-4A58-92FE-BC5EBDFD56B9}"/>
              </a:ext>
            </a:extLst>
          </p:cNvPr>
          <p:cNvSpPr/>
          <p:nvPr/>
        </p:nvSpPr>
        <p:spPr>
          <a:xfrm>
            <a:off x="1858677" y="2632965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20452-46DD-4C20-AF2E-28F3766BF48D}"/>
              </a:ext>
            </a:extLst>
          </p:cNvPr>
          <p:cNvSpPr/>
          <p:nvPr/>
        </p:nvSpPr>
        <p:spPr>
          <a:xfrm>
            <a:off x="1858677" y="2122757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Grouping column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65DCAF-C35A-4DAD-8B42-40ABF46186CE}"/>
              </a:ext>
            </a:extLst>
          </p:cNvPr>
          <p:cNvSpPr/>
          <p:nvPr/>
        </p:nvSpPr>
        <p:spPr>
          <a:xfrm>
            <a:off x="7298694" y="4218184"/>
            <a:ext cx="1351721" cy="78028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66EF13-3D98-4F2E-BC71-A8B3C68062C7}"/>
              </a:ext>
            </a:extLst>
          </p:cNvPr>
          <p:cNvSpPr/>
          <p:nvPr/>
        </p:nvSpPr>
        <p:spPr>
          <a:xfrm>
            <a:off x="7298694" y="3726270"/>
            <a:ext cx="1351721" cy="4919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 ID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A33C66-FE4E-4626-0FA3-23475DB6815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Grouped aggregation</a:t>
            </a:r>
            <a:br>
              <a:rPr lang="en-US" dirty="0"/>
            </a:br>
            <a:r>
              <a:rPr lang="en-US" sz="2800" dirty="0"/>
              <a:t>One grouping columns</a:t>
            </a:r>
          </a:p>
        </p:txBody>
      </p:sp>
    </p:spTree>
    <p:extLst>
      <p:ext uri="{BB962C8B-B14F-4D97-AF65-F5344CB8AC3E}">
        <p14:creationId xmlns:p14="http://schemas.microsoft.com/office/powerpoint/2010/main" val="2236681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AE0F-5973-44D4-A9ED-719C9568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aggregation</a:t>
            </a:r>
            <a:br>
              <a:rPr lang="en-US" dirty="0"/>
            </a:br>
            <a:r>
              <a:rPr lang="en-US" sz="2800" dirty="0"/>
              <a:t>Two grouping columns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8FC771-D58D-43B4-83C0-4EACEB9E2675}"/>
              </a:ext>
            </a:extLst>
          </p:cNvPr>
          <p:cNvSpPr/>
          <p:nvPr/>
        </p:nvSpPr>
        <p:spPr>
          <a:xfrm>
            <a:off x="3738849" y="2888284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5EA495-52FE-4A61-A6F8-38250E67F348}"/>
              </a:ext>
            </a:extLst>
          </p:cNvPr>
          <p:cNvSpPr/>
          <p:nvPr/>
        </p:nvSpPr>
        <p:spPr>
          <a:xfrm>
            <a:off x="3738849" y="2378076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column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BFA772-6263-49E8-B696-C9E0D1947240}"/>
              </a:ext>
            </a:extLst>
          </p:cNvPr>
          <p:cNvSpPr/>
          <p:nvPr/>
        </p:nvSpPr>
        <p:spPr>
          <a:xfrm>
            <a:off x="10018643" y="3791262"/>
            <a:ext cx="1351721" cy="18383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Number 2</a:t>
            </a:r>
          </a:p>
          <a:p>
            <a:pPr algn="ctr"/>
            <a:r>
              <a:rPr lang="en-US" dirty="0"/>
              <a:t>Number 3</a:t>
            </a:r>
          </a:p>
          <a:p>
            <a:pPr algn="ctr"/>
            <a:r>
              <a:rPr lang="en-US" dirty="0"/>
              <a:t>Number 4</a:t>
            </a:r>
          </a:p>
          <a:p>
            <a:pPr algn="ctr"/>
            <a:r>
              <a:rPr lang="en-US" dirty="0"/>
              <a:t>Number 5</a:t>
            </a:r>
          </a:p>
          <a:p>
            <a:pPr algn="ctr"/>
            <a:r>
              <a:rPr lang="en-US" dirty="0"/>
              <a:t>Number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2DE836-C4EA-44C1-BBFA-FD2641A0EAE1}"/>
              </a:ext>
            </a:extLst>
          </p:cNvPr>
          <p:cNvSpPr/>
          <p:nvPr/>
        </p:nvSpPr>
        <p:spPr>
          <a:xfrm>
            <a:off x="10018643" y="3299347"/>
            <a:ext cx="1351721" cy="4919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Aggregation</a:t>
            </a:r>
          </a:p>
          <a:p>
            <a:pPr algn="ctr"/>
            <a:r>
              <a:rPr lang="en-US" dirty="0"/>
              <a:t>Outcome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24384F-B182-4E38-B043-41091141E620}"/>
              </a:ext>
            </a:extLst>
          </p:cNvPr>
          <p:cNvCxnSpPr>
            <a:cxnSpLocks/>
          </p:cNvCxnSpPr>
          <p:nvPr/>
        </p:nvCxnSpPr>
        <p:spPr>
          <a:xfrm>
            <a:off x="5160519" y="4723710"/>
            <a:ext cx="1870961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8773EB-DDCF-4AF4-875F-910B7D28EED0}"/>
              </a:ext>
            </a:extLst>
          </p:cNvPr>
          <p:cNvSpPr txBox="1"/>
          <p:nvPr/>
        </p:nvSpPr>
        <p:spPr>
          <a:xfrm>
            <a:off x="5182135" y="4102244"/>
            <a:ext cx="1870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method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3C7FE3-0CE7-4680-8B83-4EF99C6B0BCA}"/>
              </a:ext>
            </a:extLst>
          </p:cNvPr>
          <p:cNvSpPr/>
          <p:nvPr/>
        </p:nvSpPr>
        <p:spPr>
          <a:xfrm>
            <a:off x="1058595" y="2888284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8DF6BA-9017-4B54-84A7-BA290856378C}"/>
              </a:ext>
            </a:extLst>
          </p:cNvPr>
          <p:cNvSpPr/>
          <p:nvPr/>
        </p:nvSpPr>
        <p:spPr>
          <a:xfrm>
            <a:off x="1058595" y="2378076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Grouping column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988F58-071B-4285-A7D4-DFC7B78EA520}"/>
              </a:ext>
            </a:extLst>
          </p:cNvPr>
          <p:cNvSpPr/>
          <p:nvPr/>
        </p:nvSpPr>
        <p:spPr>
          <a:xfrm>
            <a:off x="7315201" y="3791262"/>
            <a:ext cx="1351721" cy="18383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A0CE58-485E-4E3E-A8A4-7F1702F53E5F}"/>
              </a:ext>
            </a:extLst>
          </p:cNvPr>
          <p:cNvSpPr/>
          <p:nvPr/>
        </p:nvSpPr>
        <p:spPr>
          <a:xfrm>
            <a:off x="7315201" y="3299348"/>
            <a:ext cx="1351721" cy="4919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 1 ID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7D7C39-8CE3-42C0-BADD-FE86904EE6A2}"/>
              </a:ext>
            </a:extLst>
          </p:cNvPr>
          <p:cNvSpPr/>
          <p:nvPr/>
        </p:nvSpPr>
        <p:spPr>
          <a:xfrm>
            <a:off x="2426881" y="2888283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FD5584-C0F2-4D73-9228-6486DE703685}"/>
              </a:ext>
            </a:extLst>
          </p:cNvPr>
          <p:cNvSpPr/>
          <p:nvPr/>
        </p:nvSpPr>
        <p:spPr>
          <a:xfrm>
            <a:off x="2426881" y="2378075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Grouping column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7CD719-6B05-4000-A053-A0CF257DC34D}"/>
              </a:ext>
            </a:extLst>
          </p:cNvPr>
          <p:cNvSpPr/>
          <p:nvPr/>
        </p:nvSpPr>
        <p:spPr>
          <a:xfrm>
            <a:off x="8666922" y="3791261"/>
            <a:ext cx="1351721" cy="18383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457C9-FDE2-42D5-B439-47BE650C1182}"/>
              </a:ext>
            </a:extLst>
          </p:cNvPr>
          <p:cNvSpPr/>
          <p:nvPr/>
        </p:nvSpPr>
        <p:spPr>
          <a:xfrm>
            <a:off x="8666922" y="3299347"/>
            <a:ext cx="1351721" cy="4919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 2 ID</a:t>
            </a:r>
          </a:p>
        </p:txBody>
      </p:sp>
    </p:spTree>
    <p:extLst>
      <p:ext uri="{BB962C8B-B14F-4D97-AF65-F5344CB8AC3E}">
        <p14:creationId xmlns:p14="http://schemas.microsoft.com/office/powerpoint/2010/main" val="1472303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F729-69C7-B7A8-B054-99639626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FCEB32-6906-E433-A2AB-E706DAD8F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09" y="1940585"/>
            <a:ext cx="4463473" cy="42694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80AB3F-31E1-00FE-1FC3-4D3A0C16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Aggregation</a:t>
            </a:r>
            <a:br>
              <a:rPr lang="en-US" dirty="0"/>
            </a:br>
            <a:r>
              <a:rPr lang="en-US" sz="2800" dirty="0"/>
              <a:t>Avg Snowfall by 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1FBDD-A4A6-1936-5C6F-C4D8DA2F3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571" y="1854581"/>
            <a:ext cx="103068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B69B05-E111-B418-2AE7-D5823CEC60A5}"/>
              </a:ext>
            </a:extLst>
          </p:cNvPr>
          <p:cNvSpPr/>
          <p:nvPr/>
        </p:nvSpPr>
        <p:spPr>
          <a:xfrm>
            <a:off x="4473313" y="2551163"/>
            <a:ext cx="860110" cy="36590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BFE33F-A3C4-B4F3-128E-0E3C470270AD}"/>
              </a:ext>
            </a:extLst>
          </p:cNvPr>
          <p:cNvCxnSpPr/>
          <p:nvPr/>
        </p:nvCxnSpPr>
        <p:spPr>
          <a:xfrm>
            <a:off x="5645149" y="4067239"/>
            <a:ext cx="9017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F19509-310F-564F-8AE0-CF7C76DEB28E}"/>
              </a:ext>
            </a:extLst>
          </p:cNvPr>
          <p:cNvSpPr txBox="1"/>
          <p:nvPr/>
        </p:nvSpPr>
        <p:spPr>
          <a:xfrm>
            <a:off x="5697396" y="3605573"/>
            <a:ext cx="714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AVG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B640E3-1E86-83A1-E299-107DD7CEAF9E}"/>
              </a:ext>
            </a:extLst>
          </p:cNvPr>
          <p:cNvSpPr/>
          <p:nvPr/>
        </p:nvSpPr>
        <p:spPr>
          <a:xfrm>
            <a:off x="3580630" y="2545620"/>
            <a:ext cx="860110" cy="1256066"/>
          </a:xfrm>
          <a:prstGeom prst="rect">
            <a:avLst/>
          </a:prstGeom>
          <a:solidFill>
            <a:schemeClr val="accent1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A84729-F906-BD0A-3E1F-EF64E94A2009}"/>
              </a:ext>
            </a:extLst>
          </p:cNvPr>
          <p:cNvSpPr/>
          <p:nvPr/>
        </p:nvSpPr>
        <p:spPr>
          <a:xfrm>
            <a:off x="3601289" y="3780987"/>
            <a:ext cx="826436" cy="1188367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F7D28B-616B-0BAF-0D21-266038A96C6C}"/>
              </a:ext>
            </a:extLst>
          </p:cNvPr>
          <p:cNvSpPr/>
          <p:nvPr/>
        </p:nvSpPr>
        <p:spPr>
          <a:xfrm>
            <a:off x="3601289" y="4970553"/>
            <a:ext cx="826436" cy="1256066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61DC9C0-00F5-A03A-CD4E-6FCC426A3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51" y="3062218"/>
            <a:ext cx="2321586" cy="147893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F2CDA8A-46B3-9664-9584-353B882481A2}"/>
              </a:ext>
            </a:extLst>
          </p:cNvPr>
          <p:cNvSpPr/>
          <p:nvPr/>
        </p:nvSpPr>
        <p:spPr>
          <a:xfrm>
            <a:off x="8003139" y="3705352"/>
            <a:ext cx="1100506" cy="262543"/>
          </a:xfrm>
          <a:prstGeom prst="rect">
            <a:avLst/>
          </a:prstGeom>
          <a:solidFill>
            <a:srgbClr val="F4B18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A61ECF-4365-BA3B-D91B-F50C9205C1C9}"/>
              </a:ext>
            </a:extLst>
          </p:cNvPr>
          <p:cNvSpPr/>
          <p:nvPr/>
        </p:nvSpPr>
        <p:spPr>
          <a:xfrm>
            <a:off x="7998581" y="3980112"/>
            <a:ext cx="1105064" cy="252350"/>
          </a:xfrm>
          <a:prstGeom prst="rect">
            <a:avLst/>
          </a:prstGeom>
          <a:solidFill>
            <a:schemeClr val="accent2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88638D-26FA-A349-3909-93B5DEA7A336}"/>
              </a:ext>
            </a:extLst>
          </p:cNvPr>
          <p:cNvSpPr/>
          <p:nvPr/>
        </p:nvSpPr>
        <p:spPr>
          <a:xfrm>
            <a:off x="7991849" y="4224278"/>
            <a:ext cx="1111796" cy="290106"/>
          </a:xfrm>
          <a:prstGeom prst="rect">
            <a:avLst/>
          </a:prstGeom>
          <a:solidFill>
            <a:schemeClr val="accent2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17FB12-AE4D-CF84-B2A5-46BE58AC3B13}"/>
              </a:ext>
            </a:extLst>
          </p:cNvPr>
          <p:cNvSpPr/>
          <p:nvPr/>
        </p:nvSpPr>
        <p:spPr>
          <a:xfrm>
            <a:off x="6895901" y="3732557"/>
            <a:ext cx="1100506" cy="235338"/>
          </a:xfrm>
          <a:prstGeom prst="rect">
            <a:avLst/>
          </a:prstGeom>
          <a:solidFill>
            <a:schemeClr val="accent1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65F345-1AFF-646E-FEBD-A3DFF43ED073}"/>
              </a:ext>
            </a:extLst>
          </p:cNvPr>
          <p:cNvSpPr/>
          <p:nvPr/>
        </p:nvSpPr>
        <p:spPr>
          <a:xfrm>
            <a:off x="6900459" y="3973972"/>
            <a:ext cx="1095948" cy="241864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128ADD-A780-BA74-FB07-6B8FC2C8DDA1}"/>
              </a:ext>
            </a:extLst>
          </p:cNvPr>
          <p:cNvSpPr/>
          <p:nvPr/>
        </p:nvSpPr>
        <p:spPr>
          <a:xfrm>
            <a:off x="6895901" y="4215836"/>
            <a:ext cx="1095948" cy="298548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81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73CE-DB44-E9FF-9D8E-00D99DC5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01FD-DA04-7907-202B-596FA6D12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window functions</a:t>
            </a:r>
          </a:p>
        </p:txBody>
      </p:sp>
    </p:spTree>
    <p:extLst>
      <p:ext uri="{BB962C8B-B14F-4D97-AF65-F5344CB8AC3E}">
        <p14:creationId xmlns:p14="http://schemas.microsoft.com/office/powerpoint/2010/main" val="3427382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DDC9-4F41-E306-75F7-FECA52831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E3461-2DC7-35EC-1F49-42B198BB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window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DC827-219B-9047-F095-4F60A6F43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Partitioned window function </a:t>
            </a:r>
            <a:r>
              <a:rPr lang="en-US" b="1" dirty="0">
                <a:sym typeface="Wingdings" pitchFamily="2" charset="2"/>
              </a:rPr>
              <a:t> Grouped Aggregation.  </a:t>
            </a:r>
            <a:r>
              <a:rPr lang="en-US" dirty="0"/>
              <a:t>Again, we want to aggregate </a:t>
            </a:r>
            <a:r>
              <a:rPr lang="en-US" b="1" dirty="0"/>
              <a:t>one column</a:t>
            </a:r>
            <a:r>
              <a:rPr lang="en-US" dirty="0"/>
              <a:t> according to groupings (partitions) defined by </a:t>
            </a:r>
            <a:r>
              <a:rPr lang="en-US" b="1" dirty="0"/>
              <a:t>a second column</a:t>
            </a:r>
          </a:p>
          <a:p>
            <a:endParaRPr lang="en-US" b="1" dirty="0"/>
          </a:p>
          <a:p>
            <a:r>
              <a:rPr lang="en-US" dirty="0"/>
              <a:t>Requires min of 3 ingredients</a:t>
            </a:r>
          </a:p>
          <a:p>
            <a:pPr lvl="1"/>
            <a:r>
              <a:rPr lang="en-US" dirty="0"/>
              <a:t>A partition column</a:t>
            </a:r>
          </a:p>
          <a:p>
            <a:pPr lvl="1"/>
            <a:r>
              <a:rPr lang="en-US" dirty="0"/>
              <a:t>A data column </a:t>
            </a:r>
          </a:p>
          <a:p>
            <a:pPr lvl="1"/>
            <a:r>
              <a:rPr lang="en-US" dirty="0"/>
              <a:t>A summary method</a:t>
            </a:r>
          </a:p>
        </p:txBody>
      </p:sp>
    </p:spTree>
    <p:extLst>
      <p:ext uri="{BB962C8B-B14F-4D97-AF65-F5344CB8AC3E}">
        <p14:creationId xmlns:p14="http://schemas.microsoft.com/office/powerpoint/2010/main" val="1039728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20A0B-2FE8-4904-E805-B77A036BB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86B5D7-5846-C017-E223-CFA2BAA71D64}"/>
              </a:ext>
            </a:extLst>
          </p:cNvPr>
          <p:cNvSpPr/>
          <p:nvPr/>
        </p:nvSpPr>
        <p:spPr>
          <a:xfrm>
            <a:off x="3094021" y="2533213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7B950-DF49-2A8D-E429-07A5F470AF26}"/>
              </a:ext>
            </a:extLst>
          </p:cNvPr>
          <p:cNvSpPr/>
          <p:nvPr/>
        </p:nvSpPr>
        <p:spPr>
          <a:xfrm>
            <a:off x="3094021" y="2023005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column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8B0EF9-A16C-F5AC-8CF5-B950643B6B4E}"/>
              </a:ext>
            </a:extLst>
          </p:cNvPr>
          <p:cNvCxnSpPr>
            <a:cxnSpLocks/>
          </p:cNvCxnSpPr>
          <p:nvPr/>
        </p:nvCxnSpPr>
        <p:spPr>
          <a:xfrm>
            <a:off x="4830056" y="4355387"/>
            <a:ext cx="1870961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B809E0-DB8B-52BE-A061-847B8597BB6F}"/>
              </a:ext>
            </a:extLst>
          </p:cNvPr>
          <p:cNvSpPr txBox="1"/>
          <p:nvPr/>
        </p:nvSpPr>
        <p:spPr>
          <a:xfrm>
            <a:off x="4830056" y="3749101"/>
            <a:ext cx="1870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method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EEE634-8D1C-3D0B-8759-DE38D96DBB36}"/>
              </a:ext>
            </a:extLst>
          </p:cNvPr>
          <p:cNvSpPr/>
          <p:nvPr/>
        </p:nvSpPr>
        <p:spPr>
          <a:xfrm>
            <a:off x="1742299" y="2533213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C7707D-2806-5B96-2221-491048706432}"/>
              </a:ext>
            </a:extLst>
          </p:cNvPr>
          <p:cNvSpPr/>
          <p:nvPr/>
        </p:nvSpPr>
        <p:spPr>
          <a:xfrm>
            <a:off x="1742299" y="2023005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Grouping column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06944C-91E9-0F01-0948-8983EADA580C}"/>
              </a:ext>
            </a:extLst>
          </p:cNvPr>
          <p:cNvSpPr/>
          <p:nvPr/>
        </p:nvSpPr>
        <p:spPr>
          <a:xfrm>
            <a:off x="8222614" y="2533213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Number 2</a:t>
            </a:r>
          </a:p>
          <a:p>
            <a:pPr algn="ctr"/>
            <a:r>
              <a:rPr lang="en-US" dirty="0"/>
              <a:t>Number 2</a:t>
            </a:r>
          </a:p>
          <a:p>
            <a:pPr algn="ctr"/>
            <a:r>
              <a:rPr lang="en-US" dirty="0"/>
              <a:t>Number 2</a:t>
            </a:r>
          </a:p>
          <a:p>
            <a:pPr algn="ctr"/>
            <a:r>
              <a:rPr lang="en-US" dirty="0"/>
              <a:t>Number 2</a:t>
            </a:r>
          </a:p>
          <a:p>
            <a:pPr algn="ctr"/>
            <a:r>
              <a:rPr lang="en-US" dirty="0"/>
              <a:t>Number 3</a:t>
            </a:r>
          </a:p>
          <a:p>
            <a:pPr algn="ctr"/>
            <a:r>
              <a:rPr lang="en-US" dirty="0"/>
              <a:t>Number 3</a:t>
            </a:r>
          </a:p>
          <a:p>
            <a:pPr algn="ctr"/>
            <a:r>
              <a:rPr lang="en-US" dirty="0"/>
              <a:t>Number 3 Number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7B1080-9E7C-7DC7-23E8-6A7AB2D37036}"/>
              </a:ext>
            </a:extLst>
          </p:cNvPr>
          <p:cNvSpPr/>
          <p:nvPr/>
        </p:nvSpPr>
        <p:spPr>
          <a:xfrm>
            <a:off x="8222614" y="2023005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Window 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3AAA9D-0B7B-5F14-1EDD-528E8DDAE8F4}"/>
              </a:ext>
            </a:extLst>
          </p:cNvPr>
          <p:cNvSpPr/>
          <p:nvPr/>
        </p:nvSpPr>
        <p:spPr>
          <a:xfrm>
            <a:off x="6870892" y="2533213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1ED545-AF47-AD9E-C946-979C116F190A}"/>
              </a:ext>
            </a:extLst>
          </p:cNvPr>
          <p:cNvSpPr/>
          <p:nvPr/>
        </p:nvSpPr>
        <p:spPr>
          <a:xfrm>
            <a:off x="6870892" y="2023005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Grouping column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0FA7964-2124-42DA-2AE1-33E59EBDE38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Partitioned window function</a:t>
            </a:r>
            <a:br>
              <a:rPr lang="en-US" dirty="0"/>
            </a:br>
            <a:r>
              <a:rPr lang="en-US" sz="2800" dirty="0"/>
              <a:t>One partition column</a:t>
            </a:r>
          </a:p>
        </p:txBody>
      </p:sp>
    </p:spTree>
    <p:extLst>
      <p:ext uri="{BB962C8B-B14F-4D97-AF65-F5344CB8AC3E}">
        <p14:creationId xmlns:p14="http://schemas.microsoft.com/office/powerpoint/2010/main" val="1707012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394E2-8182-A28E-2817-4D564B10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2624-D8D9-58B9-91BE-E5E6FA3F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window function</a:t>
            </a:r>
            <a:br>
              <a:rPr lang="en-US" dirty="0"/>
            </a:br>
            <a:r>
              <a:rPr lang="en-US" sz="2800" dirty="0"/>
              <a:t>Two partition column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C82D78-67F3-F4E8-53D6-8E1559D5BA63}"/>
              </a:ext>
            </a:extLst>
          </p:cNvPr>
          <p:cNvSpPr/>
          <p:nvPr/>
        </p:nvSpPr>
        <p:spPr>
          <a:xfrm>
            <a:off x="3738849" y="2888284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3A5D00-C12F-6C33-9A32-A9C8AA020E0D}"/>
              </a:ext>
            </a:extLst>
          </p:cNvPr>
          <p:cNvSpPr/>
          <p:nvPr/>
        </p:nvSpPr>
        <p:spPr>
          <a:xfrm>
            <a:off x="3738849" y="2378076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column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70C973-F223-BD37-4F3B-5BAA19AFBDD1}"/>
              </a:ext>
            </a:extLst>
          </p:cNvPr>
          <p:cNvCxnSpPr>
            <a:cxnSpLocks/>
          </p:cNvCxnSpPr>
          <p:nvPr/>
        </p:nvCxnSpPr>
        <p:spPr>
          <a:xfrm>
            <a:off x="5160519" y="4723710"/>
            <a:ext cx="1870961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423D315-29EA-9200-63E3-844E105B9214}"/>
              </a:ext>
            </a:extLst>
          </p:cNvPr>
          <p:cNvSpPr txBox="1"/>
          <p:nvPr/>
        </p:nvSpPr>
        <p:spPr>
          <a:xfrm>
            <a:off x="5182135" y="4102244"/>
            <a:ext cx="1870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method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F8ED0E-5FFD-8001-B560-AA8B0DBEEAEE}"/>
              </a:ext>
            </a:extLst>
          </p:cNvPr>
          <p:cNvSpPr/>
          <p:nvPr/>
        </p:nvSpPr>
        <p:spPr>
          <a:xfrm>
            <a:off x="1058595" y="2888284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9E7609-6162-1B95-ED58-6203F960628F}"/>
              </a:ext>
            </a:extLst>
          </p:cNvPr>
          <p:cNvSpPr/>
          <p:nvPr/>
        </p:nvSpPr>
        <p:spPr>
          <a:xfrm>
            <a:off x="1058595" y="2378076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Grouping column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82406-8011-60D0-4E66-E6E1B27375AF}"/>
              </a:ext>
            </a:extLst>
          </p:cNvPr>
          <p:cNvSpPr/>
          <p:nvPr/>
        </p:nvSpPr>
        <p:spPr>
          <a:xfrm>
            <a:off x="2426881" y="2888283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D192F5-A70A-F91B-290F-2B130623FBE0}"/>
              </a:ext>
            </a:extLst>
          </p:cNvPr>
          <p:cNvSpPr/>
          <p:nvPr/>
        </p:nvSpPr>
        <p:spPr>
          <a:xfrm>
            <a:off x="2426881" y="2378075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Grouping column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9AFC9D-4E7B-CACB-25BF-57AAB8298C65}"/>
              </a:ext>
            </a:extLst>
          </p:cNvPr>
          <p:cNvSpPr/>
          <p:nvPr/>
        </p:nvSpPr>
        <p:spPr>
          <a:xfrm>
            <a:off x="9867714" y="2888284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Number 1</a:t>
            </a:r>
          </a:p>
          <a:p>
            <a:pPr algn="ctr"/>
            <a:r>
              <a:rPr lang="en-US" dirty="0"/>
              <a:t>Number 2</a:t>
            </a:r>
          </a:p>
          <a:p>
            <a:pPr algn="ctr"/>
            <a:r>
              <a:rPr lang="en-US" dirty="0"/>
              <a:t>Number 2</a:t>
            </a:r>
          </a:p>
          <a:p>
            <a:pPr algn="ctr"/>
            <a:r>
              <a:rPr lang="en-US" dirty="0"/>
              <a:t>Number 3</a:t>
            </a:r>
          </a:p>
          <a:p>
            <a:pPr algn="ctr"/>
            <a:r>
              <a:rPr lang="en-US" dirty="0"/>
              <a:t>Number 3</a:t>
            </a:r>
          </a:p>
          <a:p>
            <a:pPr algn="ctr"/>
            <a:r>
              <a:rPr lang="en-US" dirty="0"/>
              <a:t>Number 4</a:t>
            </a:r>
          </a:p>
          <a:p>
            <a:pPr algn="ctr"/>
            <a:r>
              <a:rPr lang="en-US" dirty="0"/>
              <a:t>Number 4</a:t>
            </a:r>
          </a:p>
          <a:p>
            <a:pPr algn="ctr"/>
            <a:r>
              <a:rPr lang="en-US" dirty="0"/>
              <a:t>Number 5</a:t>
            </a:r>
          </a:p>
          <a:p>
            <a:pPr algn="ctr"/>
            <a:r>
              <a:rPr lang="en-US" dirty="0"/>
              <a:t>Number 5</a:t>
            </a:r>
          </a:p>
          <a:p>
            <a:pPr algn="ctr"/>
            <a:r>
              <a:rPr lang="en-US" dirty="0"/>
              <a:t>Number 6</a:t>
            </a:r>
          </a:p>
          <a:p>
            <a:pPr algn="ctr"/>
            <a:r>
              <a:rPr lang="en-US" dirty="0"/>
              <a:t>Number 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212027-5277-CCE6-5837-27430A90BEB0}"/>
              </a:ext>
            </a:extLst>
          </p:cNvPr>
          <p:cNvSpPr/>
          <p:nvPr/>
        </p:nvSpPr>
        <p:spPr>
          <a:xfrm>
            <a:off x="9867714" y="2378076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column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8723B6-3E86-BCEB-25B3-7E5231D825D1}"/>
              </a:ext>
            </a:extLst>
          </p:cNvPr>
          <p:cNvSpPr/>
          <p:nvPr/>
        </p:nvSpPr>
        <p:spPr>
          <a:xfrm>
            <a:off x="7187460" y="2888284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216C2D-874E-A973-9F7C-39B1A0AD70A0}"/>
              </a:ext>
            </a:extLst>
          </p:cNvPr>
          <p:cNvSpPr/>
          <p:nvPr/>
        </p:nvSpPr>
        <p:spPr>
          <a:xfrm>
            <a:off x="7187460" y="2378076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Grouping column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41C571-BB8E-3B20-36D0-5044F1663F7E}"/>
              </a:ext>
            </a:extLst>
          </p:cNvPr>
          <p:cNvSpPr/>
          <p:nvPr/>
        </p:nvSpPr>
        <p:spPr>
          <a:xfrm>
            <a:off x="8555746" y="2888283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CE0A0B-8614-05D3-E532-E10F650A087E}"/>
              </a:ext>
            </a:extLst>
          </p:cNvPr>
          <p:cNvSpPr/>
          <p:nvPr/>
        </p:nvSpPr>
        <p:spPr>
          <a:xfrm>
            <a:off x="8555746" y="2378075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Grouping column 2</a:t>
            </a:r>
          </a:p>
        </p:txBody>
      </p:sp>
    </p:spTree>
    <p:extLst>
      <p:ext uri="{BB962C8B-B14F-4D97-AF65-F5344CB8AC3E}">
        <p14:creationId xmlns:p14="http://schemas.microsoft.com/office/powerpoint/2010/main" val="3321453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9E7E4-9B17-9AF9-C8C1-08B51974F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F75164-8658-B5D4-B6E3-431624442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09" y="1940585"/>
            <a:ext cx="4463473" cy="42694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E01973-AAE4-24A9-9683-FA46EA084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Averaging with a window function!</a:t>
            </a:r>
            <a:br>
              <a:rPr lang="en-US" dirty="0"/>
            </a:br>
            <a:r>
              <a:rPr lang="en-US" sz="2800" dirty="0"/>
              <a:t>Partition by 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E070B-B771-6F27-98BD-C3A24DAE4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68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0F143B-6C89-E5FC-80DC-DE0E2AD8BD52}"/>
              </a:ext>
            </a:extLst>
          </p:cNvPr>
          <p:cNvSpPr/>
          <p:nvPr/>
        </p:nvSpPr>
        <p:spPr>
          <a:xfrm>
            <a:off x="4473313" y="2551163"/>
            <a:ext cx="860110" cy="36590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BFA6F7-115F-F69F-9FC1-56311E80E532}"/>
              </a:ext>
            </a:extLst>
          </p:cNvPr>
          <p:cNvCxnSpPr/>
          <p:nvPr/>
        </p:nvCxnSpPr>
        <p:spPr>
          <a:xfrm>
            <a:off x="5645149" y="4067239"/>
            <a:ext cx="9017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967100-9C38-4470-8CFD-9BCF43B58DC0}"/>
              </a:ext>
            </a:extLst>
          </p:cNvPr>
          <p:cNvSpPr txBox="1"/>
          <p:nvPr/>
        </p:nvSpPr>
        <p:spPr>
          <a:xfrm>
            <a:off x="5697396" y="3605573"/>
            <a:ext cx="714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AVG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E1FD0-1CB2-F61F-4658-7C4CA1032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090" y="1940585"/>
            <a:ext cx="1100506" cy="42903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21C133-CE88-CAFF-9C00-F3D39F122FEA}"/>
              </a:ext>
            </a:extLst>
          </p:cNvPr>
          <p:cNvSpPr/>
          <p:nvPr/>
        </p:nvSpPr>
        <p:spPr>
          <a:xfrm>
            <a:off x="6996090" y="2551163"/>
            <a:ext cx="1100506" cy="1256066"/>
          </a:xfrm>
          <a:prstGeom prst="rect">
            <a:avLst/>
          </a:prstGeom>
          <a:solidFill>
            <a:srgbClr val="F4B18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D12A39-B610-673A-01BE-254441A7D4AD}"/>
              </a:ext>
            </a:extLst>
          </p:cNvPr>
          <p:cNvSpPr/>
          <p:nvPr/>
        </p:nvSpPr>
        <p:spPr>
          <a:xfrm>
            <a:off x="7016749" y="3786530"/>
            <a:ext cx="1057420" cy="1188367"/>
          </a:xfrm>
          <a:prstGeom prst="rect">
            <a:avLst/>
          </a:prstGeom>
          <a:solidFill>
            <a:schemeClr val="accent2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56D21A-5DF6-E453-BE07-A8887D98C862}"/>
              </a:ext>
            </a:extLst>
          </p:cNvPr>
          <p:cNvSpPr/>
          <p:nvPr/>
        </p:nvSpPr>
        <p:spPr>
          <a:xfrm>
            <a:off x="7016749" y="4976096"/>
            <a:ext cx="1057420" cy="1256066"/>
          </a:xfrm>
          <a:prstGeom prst="rect">
            <a:avLst/>
          </a:prstGeom>
          <a:solidFill>
            <a:schemeClr val="accent2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E63EA9-6254-CF0C-D39C-B4F328C44C90}"/>
              </a:ext>
            </a:extLst>
          </p:cNvPr>
          <p:cNvSpPr/>
          <p:nvPr/>
        </p:nvSpPr>
        <p:spPr>
          <a:xfrm>
            <a:off x="3580630" y="2545620"/>
            <a:ext cx="860110" cy="1256066"/>
          </a:xfrm>
          <a:prstGeom prst="rect">
            <a:avLst/>
          </a:prstGeom>
          <a:solidFill>
            <a:schemeClr val="accent1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D1AB49-5164-A0D7-31BA-496953EE8820}"/>
              </a:ext>
            </a:extLst>
          </p:cNvPr>
          <p:cNvSpPr/>
          <p:nvPr/>
        </p:nvSpPr>
        <p:spPr>
          <a:xfrm>
            <a:off x="3601289" y="3780987"/>
            <a:ext cx="826436" cy="1188367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E50016-20F0-1B1F-0F65-15590BC3CFB3}"/>
              </a:ext>
            </a:extLst>
          </p:cNvPr>
          <p:cNvSpPr/>
          <p:nvPr/>
        </p:nvSpPr>
        <p:spPr>
          <a:xfrm>
            <a:off x="3601289" y="4970553"/>
            <a:ext cx="826436" cy="1256066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09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99DA9-26D1-A57F-B856-151594F7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78BC-78C9-F7B0-8307-D9929F00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20A6B-AE8B-1DFB-FADF-6F93AA57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Pivot table </a:t>
            </a:r>
            <a:r>
              <a:rPr lang="en-US" b="1" dirty="0">
                <a:sym typeface="Wingdings" pitchFamily="2" charset="2"/>
              </a:rPr>
              <a:t> Grouped Aggregation.  </a:t>
            </a:r>
            <a:r>
              <a:rPr lang="en-US" dirty="0"/>
              <a:t>Again, we want to </a:t>
            </a:r>
          </a:p>
          <a:p>
            <a:pPr lvl="1"/>
            <a:r>
              <a:rPr lang="en-US" dirty="0"/>
              <a:t>aggregate </a:t>
            </a:r>
            <a:r>
              <a:rPr lang="en-US" b="1" dirty="0"/>
              <a:t>one column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according to groupings defined by </a:t>
            </a:r>
            <a:r>
              <a:rPr lang="en-US" b="1" dirty="0"/>
              <a:t>a second </a:t>
            </a:r>
            <a:r>
              <a:rPr lang="en-US" b="1" i="1" dirty="0"/>
              <a:t>pivot </a:t>
            </a:r>
            <a:r>
              <a:rPr lang="en-US" b="1" dirty="0"/>
              <a:t>column</a:t>
            </a:r>
          </a:p>
          <a:p>
            <a:pPr lvl="1"/>
            <a:r>
              <a:rPr lang="en-US" dirty="0"/>
              <a:t>And optionally additional </a:t>
            </a:r>
            <a:r>
              <a:rPr lang="en-US" b="1" dirty="0"/>
              <a:t>grouping columns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Requires min of 3-4 ingredients</a:t>
            </a:r>
          </a:p>
          <a:p>
            <a:pPr lvl="1"/>
            <a:r>
              <a:rPr lang="en-US" dirty="0"/>
              <a:t>A pivot column</a:t>
            </a:r>
          </a:p>
          <a:p>
            <a:pPr lvl="1"/>
            <a:r>
              <a:rPr lang="en-US" dirty="0"/>
              <a:t>A data column </a:t>
            </a:r>
          </a:p>
          <a:p>
            <a:pPr lvl="1"/>
            <a:r>
              <a:rPr lang="en-US" dirty="0"/>
              <a:t>A summary method</a:t>
            </a:r>
          </a:p>
          <a:p>
            <a:pPr lvl="1"/>
            <a:r>
              <a:rPr lang="en-US" dirty="0"/>
              <a:t>1 or more additional grouping columns</a:t>
            </a:r>
          </a:p>
        </p:txBody>
      </p:sp>
    </p:spTree>
    <p:extLst>
      <p:ext uri="{BB962C8B-B14F-4D97-AF65-F5344CB8AC3E}">
        <p14:creationId xmlns:p14="http://schemas.microsoft.com/office/powerpoint/2010/main" val="606281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FF843-5E45-BF0D-BD7F-786DA4A69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9A3148-86FD-F7C5-D5BF-F6009A864096}"/>
              </a:ext>
            </a:extLst>
          </p:cNvPr>
          <p:cNvSpPr/>
          <p:nvPr/>
        </p:nvSpPr>
        <p:spPr>
          <a:xfrm>
            <a:off x="3210399" y="2632965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1D5126-B6B7-516F-64FB-BA429EF99F0E}"/>
              </a:ext>
            </a:extLst>
          </p:cNvPr>
          <p:cNvSpPr/>
          <p:nvPr/>
        </p:nvSpPr>
        <p:spPr>
          <a:xfrm>
            <a:off x="3210399" y="2122757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column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BB3DB1-754F-AD7C-8B87-F43CE49B3E9A}"/>
              </a:ext>
            </a:extLst>
          </p:cNvPr>
          <p:cNvCxnSpPr>
            <a:cxnSpLocks/>
          </p:cNvCxnSpPr>
          <p:nvPr/>
        </p:nvCxnSpPr>
        <p:spPr>
          <a:xfrm>
            <a:off x="4946434" y="4455139"/>
            <a:ext cx="1870961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EEC62A7-5738-613A-E678-7151F1377C02}"/>
              </a:ext>
            </a:extLst>
          </p:cNvPr>
          <p:cNvSpPr txBox="1"/>
          <p:nvPr/>
        </p:nvSpPr>
        <p:spPr>
          <a:xfrm>
            <a:off x="4946434" y="3848853"/>
            <a:ext cx="1870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method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8E43A7-16EE-80FB-DC19-DDC330478822}"/>
              </a:ext>
            </a:extLst>
          </p:cNvPr>
          <p:cNvSpPr/>
          <p:nvPr/>
        </p:nvSpPr>
        <p:spPr>
          <a:xfrm>
            <a:off x="1858677" y="2632965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5F0C22-25EB-AE64-3646-646725F1799E}"/>
              </a:ext>
            </a:extLst>
          </p:cNvPr>
          <p:cNvSpPr/>
          <p:nvPr/>
        </p:nvSpPr>
        <p:spPr>
          <a:xfrm>
            <a:off x="1858677" y="2122757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Pivot column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2A4EBA-0687-0F7B-346C-C1E78B6800F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Pivot table</a:t>
            </a:r>
            <a:br>
              <a:rPr lang="en-US" dirty="0"/>
            </a:br>
            <a:r>
              <a:rPr lang="en-US" sz="2800" dirty="0"/>
              <a:t>No grouping columns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5E7DF-0C47-16C5-23F2-D8E667A9DF41}"/>
              </a:ext>
            </a:extLst>
          </p:cNvPr>
          <p:cNvSpPr/>
          <p:nvPr/>
        </p:nvSpPr>
        <p:spPr>
          <a:xfrm>
            <a:off x="7201708" y="4643384"/>
            <a:ext cx="2224630" cy="50460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1  Number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66B702-0FF3-3595-7CF6-5ED8DED7748A}"/>
              </a:ext>
            </a:extLst>
          </p:cNvPr>
          <p:cNvSpPr/>
          <p:nvPr/>
        </p:nvSpPr>
        <p:spPr>
          <a:xfrm>
            <a:off x="7201708" y="4138783"/>
            <a:ext cx="2224630" cy="5046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            Slow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F77D58-B4FA-5381-158F-AF17F0D7225C}"/>
              </a:ext>
            </a:extLst>
          </p:cNvPr>
          <p:cNvSpPr/>
          <p:nvPr/>
        </p:nvSpPr>
        <p:spPr>
          <a:xfrm>
            <a:off x="7201708" y="3639570"/>
            <a:ext cx="2224630" cy="4919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Pivot ID</a:t>
            </a:r>
          </a:p>
        </p:txBody>
      </p:sp>
    </p:spTree>
    <p:extLst>
      <p:ext uri="{BB962C8B-B14F-4D97-AF65-F5344CB8AC3E}">
        <p14:creationId xmlns:p14="http://schemas.microsoft.com/office/powerpoint/2010/main" val="371873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04E6-FFDE-1009-5ACB-7113A414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3A139-91E5-C0F2-1775-F5E839F6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table</a:t>
            </a:r>
            <a:br>
              <a:rPr lang="en-US" dirty="0"/>
            </a:br>
            <a:r>
              <a:rPr lang="en-US" sz="2800" dirty="0"/>
              <a:t>One grouping columns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ED6BCF-E197-C6EE-813A-213E76139A04}"/>
              </a:ext>
            </a:extLst>
          </p:cNvPr>
          <p:cNvSpPr/>
          <p:nvPr/>
        </p:nvSpPr>
        <p:spPr>
          <a:xfrm>
            <a:off x="3738849" y="2888284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BD5732-F29E-578A-6CB2-19A43D12466C}"/>
              </a:ext>
            </a:extLst>
          </p:cNvPr>
          <p:cNvSpPr/>
          <p:nvPr/>
        </p:nvSpPr>
        <p:spPr>
          <a:xfrm>
            <a:off x="3738849" y="2378076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column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D793ED-A756-B5E6-C579-EFD2DF774D4D}"/>
              </a:ext>
            </a:extLst>
          </p:cNvPr>
          <p:cNvSpPr/>
          <p:nvPr/>
        </p:nvSpPr>
        <p:spPr>
          <a:xfrm>
            <a:off x="8752477" y="4284218"/>
            <a:ext cx="2224630" cy="10325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1  Number 2</a:t>
            </a:r>
          </a:p>
          <a:p>
            <a:pPr algn="ctr"/>
            <a:r>
              <a:rPr lang="en-US" dirty="0"/>
              <a:t>Number 3  Number 4</a:t>
            </a:r>
          </a:p>
          <a:p>
            <a:pPr algn="ctr"/>
            <a:r>
              <a:rPr lang="en-US" dirty="0"/>
              <a:t>Number 5  Number 6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0008099-4035-C65C-B9C1-6E85FF06D1C7}"/>
              </a:ext>
            </a:extLst>
          </p:cNvPr>
          <p:cNvCxnSpPr>
            <a:cxnSpLocks/>
          </p:cNvCxnSpPr>
          <p:nvPr/>
        </p:nvCxnSpPr>
        <p:spPr>
          <a:xfrm>
            <a:off x="5160519" y="4723710"/>
            <a:ext cx="1870961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4D6BFD9-5E96-28E7-DE40-530CAAAC3B74}"/>
              </a:ext>
            </a:extLst>
          </p:cNvPr>
          <p:cNvSpPr txBox="1"/>
          <p:nvPr/>
        </p:nvSpPr>
        <p:spPr>
          <a:xfrm>
            <a:off x="5182135" y="4102244"/>
            <a:ext cx="1870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method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15E23E-C2F7-7091-418F-49AFE6472BDE}"/>
              </a:ext>
            </a:extLst>
          </p:cNvPr>
          <p:cNvSpPr/>
          <p:nvPr/>
        </p:nvSpPr>
        <p:spPr>
          <a:xfrm>
            <a:off x="1058595" y="2888284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8C8D4B-5DBA-211C-69E1-37918BE4EB1B}"/>
              </a:ext>
            </a:extLst>
          </p:cNvPr>
          <p:cNvSpPr/>
          <p:nvPr/>
        </p:nvSpPr>
        <p:spPr>
          <a:xfrm>
            <a:off x="1058595" y="2378076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Grouping column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B93E7D-9AAA-0918-75FD-A920F7000176}"/>
              </a:ext>
            </a:extLst>
          </p:cNvPr>
          <p:cNvSpPr/>
          <p:nvPr/>
        </p:nvSpPr>
        <p:spPr>
          <a:xfrm>
            <a:off x="7386557" y="4284221"/>
            <a:ext cx="1351721" cy="10325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51BC6E-A3B6-CF83-2FDC-63C1FFE7F7E5}"/>
              </a:ext>
            </a:extLst>
          </p:cNvPr>
          <p:cNvSpPr/>
          <p:nvPr/>
        </p:nvSpPr>
        <p:spPr>
          <a:xfrm>
            <a:off x="7386557" y="3792306"/>
            <a:ext cx="1351721" cy="4919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 1 ID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FD7AA2-C55D-E9BA-EE3F-CDE1F6E71C85}"/>
              </a:ext>
            </a:extLst>
          </p:cNvPr>
          <p:cNvSpPr/>
          <p:nvPr/>
        </p:nvSpPr>
        <p:spPr>
          <a:xfrm>
            <a:off x="2426881" y="2888283"/>
            <a:ext cx="1351722" cy="36045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Fast</a:t>
            </a:r>
          </a:p>
          <a:p>
            <a:pPr algn="ctr"/>
            <a:r>
              <a:rPr lang="en-US" dirty="0"/>
              <a:t>Slow</a:t>
            </a:r>
          </a:p>
          <a:p>
            <a:pPr algn="ctr"/>
            <a:r>
              <a:rPr lang="en-US" dirty="0"/>
              <a:t>Slow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D595C5-EAAF-E70A-2B47-4AA3EFABC7BF}"/>
              </a:ext>
            </a:extLst>
          </p:cNvPr>
          <p:cNvSpPr/>
          <p:nvPr/>
        </p:nvSpPr>
        <p:spPr>
          <a:xfrm>
            <a:off x="2426881" y="2378075"/>
            <a:ext cx="1351722" cy="510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Pivot column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50307B-32F2-3543-5C7A-F4210B8C8C0B}"/>
              </a:ext>
            </a:extLst>
          </p:cNvPr>
          <p:cNvSpPr/>
          <p:nvPr/>
        </p:nvSpPr>
        <p:spPr>
          <a:xfrm>
            <a:off x="8752477" y="3779618"/>
            <a:ext cx="2224630" cy="5046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            Slow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8EDBC5-8BD2-8A88-A7C9-00D8563B7567}"/>
              </a:ext>
            </a:extLst>
          </p:cNvPr>
          <p:cNvSpPr/>
          <p:nvPr/>
        </p:nvSpPr>
        <p:spPr>
          <a:xfrm>
            <a:off x="8752477" y="3280405"/>
            <a:ext cx="2224630" cy="4919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Pivot ID</a:t>
            </a:r>
          </a:p>
        </p:txBody>
      </p:sp>
    </p:spTree>
    <p:extLst>
      <p:ext uri="{BB962C8B-B14F-4D97-AF65-F5344CB8AC3E}">
        <p14:creationId xmlns:p14="http://schemas.microsoft.com/office/powerpoint/2010/main" val="2107895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C0932-5670-DF00-E8F4-076E21E7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9A8D7B-9761-12F0-A7D5-2BE347E69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164" y="3698938"/>
            <a:ext cx="2540000" cy="73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9AB81C-943B-F342-5E32-ECA4F7E50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09" y="1940585"/>
            <a:ext cx="4463473" cy="42694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D44563-39F6-5712-CE1E-F9BCD9310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Averaging with a pivot table!</a:t>
            </a:r>
            <a:br>
              <a:rPr lang="en-US" dirty="0"/>
            </a:br>
            <a:r>
              <a:rPr lang="en-US" sz="2800" dirty="0"/>
              <a:t>Pivot on 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021E2-86F8-61A2-F16B-F513C9269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68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B54693-965D-BBDD-6231-CEF26487A71D}"/>
              </a:ext>
            </a:extLst>
          </p:cNvPr>
          <p:cNvSpPr/>
          <p:nvPr/>
        </p:nvSpPr>
        <p:spPr>
          <a:xfrm>
            <a:off x="4473313" y="2551163"/>
            <a:ext cx="860110" cy="36590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7B7F8C-8422-BCF9-3076-94E2DFFE9292}"/>
              </a:ext>
            </a:extLst>
          </p:cNvPr>
          <p:cNvCxnSpPr/>
          <p:nvPr/>
        </p:nvCxnSpPr>
        <p:spPr>
          <a:xfrm>
            <a:off x="5645149" y="4067239"/>
            <a:ext cx="9017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3800F7B-A895-AE77-E46B-950209EE2B7F}"/>
              </a:ext>
            </a:extLst>
          </p:cNvPr>
          <p:cNvSpPr txBox="1"/>
          <p:nvPr/>
        </p:nvSpPr>
        <p:spPr>
          <a:xfrm>
            <a:off x="5697396" y="3605573"/>
            <a:ext cx="714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AVG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FA4C2-8D0A-FAA3-B8A0-99305AC633AA}"/>
              </a:ext>
            </a:extLst>
          </p:cNvPr>
          <p:cNvSpPr/>
          <p:nvPr/>
        </p:nvSpPr>
        <p:spPr>
          <a:xfrm>
            <a:off x="6893408" y="4185392"/>
            <a:ext cx="855032" cy="250145"/>
          </a:xfrm>
          <a:prstGeom prst="rect">
            <a:avLst/>
          </a:prstGeom>
          <a:solidFill>
            <a:srgbClr val="F4B18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9AE536-FD35-7AD6-9EB8-741CDA7C7F86}"/>
              </a:ext>
            </a:extLst>
          </p:cNvPr>
          <p:cNvSpPr/>
          <p:nvPr/>
        </p:nvSpPr>
        <p:spPr>
          <a:xfrm>
            <a:off x="7748439" y="4185393"/>
            <a:ext cx="805157" cy="250145"/>
          </a:xfrm>
          <a:prstGeom prst="rect">
            <a:avLst/>
          </a:prstGeom>
          <a:solidFill>
            <a:schemeClr val="accent2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AD0DDC-5038-14D9-2347-E70D390B6AA4}"/>
              </a:ext>
            </a:extLst>
          </p:cNvPr>
          <p:cNvSpPr/>
          <p:nvPr/>
        </p:nvSpPr>
        <p:spPr>
          <a:xfrm>
            <a:off x="8541791" y="4185392"/>
            <a:ext cx="870080" cy="250145"/>
          </a:xfrm>
          <a:prstGeom prst="rect">
            <a:avLst/>
          </a:prstGeom>
          <a:solidFill>
            <a:schemeClr val="accent2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7AAA3C-F672-42A3-1D86-C90C15CDD190}"/>
              </a:ext>
            </a:extLst>
          </p:cNvPr>
          <p:cNvSpPr/>
          <p:nvPr/>
        </p:nvSpPr>
        <p:spPr>
          <a:xfrm>
            <a:off x="3580630" y="2545620"/>
            <a:ext cx="860110" cy="1256066"/>
          </a:xfrm>
          <a:prstGeom prst="rect">
            <a:avLst/>
          </a:prstGeom>
          <a:solidFill>
            <a:schemeClr val="accent1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23784C-F1CC-0E1B-DE2F-A1A7D3ADB9C9}"/>
              </a:ext>
            </a:extLst>
          </p:cNvPr>
          <p:cNvSpPr/>
          <p:nvPr/>
        </p:nvSpPr>
        <p:spPr>
          <a:xfrm>
            <a:off x="3601289" y="3780987"/>
            <a:ext cx="826436" cy="1188367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B0F5D8-3AF7-5693-CB57-FED43E673EEE}"/>
              </a:ext>
            </a:extLst>
          </p:cNvPr>
          <p:cNvSpPr/>
          <p:nvPr/>
        </p:nvSpPr>
        <p:spPr>
          <a:xfrm>
            <a:off x="3601289" y="4970553"/>
            <a:ext cx="826436" cy="1256066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05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2341</TotalTime>
  <Words>665</Words>
  <Application>Microsoft Macintosh PowerPoint</Application>
  <PresentationFormat>Widescreen</PresentationFormat>
  <Paragraphs>330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Office Theme</vt:lpstr>
      <vt:lpstr>All About Aggregation</vt:lpstr>
      <vt:lpstr>What is aggregation?</vt:lpstr>
      <vt:lpstr>Simple aggregation</vt:lpstr>
      <vt:lpstr>PowerPoint Presentation</vt:lpstr>
      <vt:lpstr>Counting is simple aggregation!</vt:lpstr>
      <vt:lpstr>Averaging is simple aggregation!</vt:lpstr>
      <vt:lpstr>Maximum as a simple aggregation!</vt:lpstr>
      <vt:lpstr>PowerPoint Presentation</vt:lpstr>
      <vt:lpstr>Averaging with a window function!</vt:lpstr>
      <vt:lpstr>Maximum with a window function!</vt:lpstr>
      <vt:lpstr>Grouped aggregation</vt:lpstr>
      <vt:lpstr>Grouped aggregation</vt:lpstr>
      <vt:lpstr>PowerPoint Presentation</vt:lpstr>
      <vt:lpstr>Grouped aggregation Two grouping columns</vt:lpstr>
      <vt:lpstr>Grouped Aggregation Avg Snowfall by Month</vt:lpstr>
      <vt:lpstr>Partitioned window functions</vt:lpstr>
      <vt:lpstr>Partitioned window functions</vt:lpstr>
      <vt:lpstr>PowerPoint Presentation</vt:lpstr>
      <vt:lpstr>Partitioned window function Two partition column</vt:lpstr>
      <vt:lpstr>Averaging with a window function! Partition by Month</vt:lpstr>
      <vt:lpstr>Pivot table</vt:lpstr>
      <vt:lpstr>PowerPoint Presentation</vt:lpstr>
      <vt:lpstr>Pivot table One grouping columns</vt:lpstr>
      <vt:lpstr>Averaging with a pivot table! Pivot on Month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Bergen, Silas R</dc:creator>
  <cp:lastModifiedBy>Iverson, Todd</cp:lastModifiedBy>
  <cp:revision>45</cp:revision>
  <dcterms:created xsi:type="dcterms:W3CDTF">2019-08-08T14:16:57Z</dcterms:created>
  <dcterms:modified xsi:type="dcterms:W3CDTF">2026-07-11T09:03:08Z</dcterms:modified>
</cp:coreProperties>
</file>